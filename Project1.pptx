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8" r:id="rId3"/>
    <p:sldId id="267" r:id="rId4"/>
    <p:sldId id="263" r:id="rId5"/>
    <p:sldId id="259" r:id="rId6"/>
    <p:sldId id="262" r:id="rId7"/>
    <p:sldId id="301" r:id="rId8"/>
    <p:sldId id="302" r:id="rId9"/>
    <p:sldId id="303" r:id="rId10"/>
    <p:sldId id="304" r:id="rId11"/>
    <p:sldId id="305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ition" id="{E6BE2E5F-9834-48FE-9F4C-CAD988A9EA95}">
          <p14:sldIdLst>
            <p14:sldId id="256"/>
            <p14:sldId id="258"/>
          </p14:sldIdLst>
        </p14:section>
        <p14:section name="data cleaning" id="{1963F98F-4AAF-4D13-9842-A125B94A8B66}">
          <p14:sldIdLst>
            <p14:sldId id="267"/>
            <p14:sldId id="263"/>
            <p14:sldId id="259"/>
            <p14:sldId id="262"/>
            <p14:sldId id="301"/>
            <p14:sldId id="302"/>
            <p14:sldId id="303"/>
            <p14:sldId id="304"/>
            <p14:sldId id="30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B3B2"/>
    <a:srgbClr val="F0EBE4"/>
    <a:srgbClr val="E0B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7EE39-42F6-4224-913A-FE5B60889325}">
  <a:tblStyle styleId="{A407EE39-42F6-4224-913A-FE5B608893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63F5789-61F1-4460-8BB7-7D2F9F56B8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B208E96-A423-442F-B9BC-8177B98686D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712" autoAdjust="0"/>
  </p:normalViewPr>
  <p:slideViewPr>
    <p:cSldViewPr snapToGrid="0">
      <p:cViewPr>
        <p:scale>
          <a:sx n="66" d="100"/>
          <a:sy n="66" d="100"/>
        </p:scale>
        <p:origin x="1930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146cb5cc3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4" name="Google Shape;2054;g3146cb5cc3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146cb5cc3e_0_6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3" name="Google Shape;2083;g3146cb5cc3e_0_6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3146cb5cc3e_0_40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2" name="Google Shape;2452;g3146cb5cc3e_0_40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3146cb5cc3e_0_9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4" name="Google Shape;2104;g3146cb5cc3e_0_9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>
          <a:extLst>
            <a:ext uri="{FF2B5EF4-FFF2-40B4-BE49-F238E27FC236}">
              <a16:creationId xmlns:a16="http://schemas.microsoft.com/office/drawing/2014/main" id="{B5C8EC7D-782F-D0FE-1562-36FB2008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>
            <a:extLst>
              <a:ext uri="{FF2B5EF4-FFF2-40B4-BE49-F238E27FC236}">
                <a16:creationId xmlns:a16="http://schemas.microsoft.com/office/drawing/2014/main" id="{5F630FA7-B544-F23C-F711-CD45B780B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>
            <a:extLst>
              <a:ext uri="{FF2B5EF4-FFF2-40B4-BE49-F238E27FC236}">
                <a16:creationId xmlns:a16="http://schemas.microsoft.com/office/drawing/2014/main" id="{8B077F26-6335-6CDF-6A67-6C59D7A4B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437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>
          <a:extLst>
            <a:ext uri="{FF2B5EF4-FFF2-40B4-BE49-F238E27FC236}">
              <a16:creationId xmlns:a16="http://schemas.microsoft.com/office/drawing/2014/main" id="{20D2E730-5EB9-A26A-1313-B7C1803D5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>
            <a:extLst>
              <a:ext uri="{FF2B5EF4-FFF2-40B4-BE49-F238E27FC236}">
                <a16:creationId xmlns:a16="http://schemas.microsoft.com/office/drawing/2014/main" id="{C18407ED-79C9-95E4-2298-37D336E99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>
            <a:extLst>
              <a:ext uri="{FF2B5EF4-FFF2-40B4-BE49-F238E27FC236}">
                <a16:creationId xmlns:a16="http://schemas.microsoft.com/office/drawing/2014/main" id="{85E12E75-72AE-3404-237E-86FA156D7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6784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>
          <a:extLst>
            <a:ext uri="{FF2B5EF4-FFF2-40B4-BE49-F238E27FC236}">
              <a16:creationId xmlns:a16="http://schemas.microsoft.com/office/drawing/2014/main" id="{FECFFB49-DBC0-3FBB-4C1F-0110E6B5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>
            <a:extLst>
              <a:ext uri="{FF2B5EF4-FFF2-40B4-BE49-F238E27FC236}">
                <a16:creationId xmlns:a16="http://schemas.microsoft.com/office/drawing/2014/main" id="{8F655C57-4884-1D89-BA2D-1DFA63A61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>
            <a:extLst>
              <a:ext uri="{FF2B5EF4-FFF2-40B4-BE49-F238E27FC236}">
                <a16:creationId xmlns:a16="http://schemas.microsoft.com/office/drawing/2014/main" id="{8A82AF92-7E43-907F-F4F0-DCF97EAAA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8740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>
          <a:extLst>
            <a:ext uri="{FF2B5EF4-FFF2-40B4-BE49-F238E27FC236}">
              <a16:creationId xmlns:a16="http://schemas.microsoft.com/office/drawing/2014/main" id="{A33FA7B7-E1D0-7F72-0750-2105A396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>
            <a:extLst>
              <a:ext uri="{FF2B5EF4-FFF2-40B4-BE49-F238E27FC236}">
                <a16:creationId xmlns:a16="http://schemas.microsoft.com/office/drawing/2014/main" id="{A65510DA-A944-246A-98B5-4141BA8FC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>
            <a:extLst>
              <a:ext uri="{FF2B5EF4-FFF2-40B4-BE49-F238E27FC236}">
                <a16:creationId xmlns:a16="http://schemas.microsoft.com/office/drawing/2014/main" id="{6180BFD6-D202-8582-1B36-9FB286473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4553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>
          <a:extLst>
            <a:ext uri="{FF2B5EF4-FFF2-40B4-BE49-F238E27FC236}">
              <a16:creationId xmlns:a16="http://schemas.microsoft.com/office/drawing/2014/main" id="{62BBB09F-6273-4D55-ED34-5A5709A0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>
            <a:extLst>
              <a:ext uri="{FF2B5EF4-FFF2-40B4-BE49-F238E27FC236}">
                <a16:creationId xmlns:a16="http://schemas.microsoft.com/office/drawing/2014/main" id="{20848B20-1EFF-41FE-56C7-F3CDB64FB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>
            <a:extLst>
              <a:ext uri="{FF2B5EF4-FFF2-40B4-BE49-F238E27FC236}">
                <a16:creationId xmlns:a16="http://schemas.microsoft.com/office/drawing/2014/main" id="{660A3415-35E7-EF47-177C-D1CE3A322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5408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g3146cb5cc3e_0_43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8" name="Google Shape;2458;g3146cb5cc3e_0_43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>
            <a:spLocks noGrp="1"/>
          </p:cNvSpPr>
          <p:nvPr>
            <p:ph type="subTitle" idx="1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9"/>
          <p:cNvSpPr txBox="1">
            <a:spLocks noGrp="1"/>
          </p:cNvSpPr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>
            <a:spLocks noGrp="1"/>
          </p:cNvSpPr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3"/>
          <p:cNvSpPr txBox="1">
            <a:spLocks noGrp="1"/>
          </p:cNvSpPr>
          <p:nvPr>
            <p:ph type="title" idx="2" hasCustomPrompt="1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5" name="Google Shape;905;p13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13"/>
          <p:cNvSpPr txBox="1">
            <a:spLocks noGrp="1"/>
          </p:cNvSpPr>
          <p:nvPr>
            <p:ph type="title" idx="5" hasCustomPrompt="1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8" name="Google Shape;908;p13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13"/>
          <p:cNvSpPr txBox="1">
            <a:spLocks noGrp="1"/>
          </p:cNvSpPr>
          <p:nvPr>
            <p:ph type="title" idx="8" hasCustomPrompt="1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1" name="Google Shape;911;p13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3"/>
          <p:cNvSpPr txBox="1">
            <a:spLocks noGrp="1"/>
          </p:cNvSpPr>
          <p:nvPr>
            <p:ph type="title" idx="14" hasCustomPrompt="1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>
            <a:spLocks noGrp="1"/>
          </p:cNvSpPr>
          <p:nvPr>
            <p:ph type="subTitle" idx="1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15"/>
          <p:cNvSpPr txBox="1">
            <a:spLocks noGrp="1"/>
          </p:cNvSpPr>
          <p:nvPr>
            <p:ph type="subTitle" idx="2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15"/>
          <p:cNvSpPr txBox="1">
            <a:spLocks noGrp="1"/>
          </p:cNvSpPr>
          <p:nvPr>
            <p:ph type="subTitle" idx="3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4" name="Google Shape;116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65" name="Google Shape;1165;p15"/>
          <p:cNvSpPr txBox="1">
            <a:spLocks noGrp="1"/>
          </p:cNvSpPr>
          <p:nvPr>
            <p:ph type="subTitle" idx="4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6" name="Google Shape;1166;p15"/>
          <p:cNvSpPr txBox="1">
            <a:spLocks noGrp="1"/>
          </p:cNvSpPr>
          <p:nvPr>
            <p:ph type="subTitle" idx="5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7" name="Google Shape;1167;p15"/>
          <p:cNvSpPr txBox="1">
            <a:spLocks noGrp="1"/>
          </p:cNvSpPr>
          <p:nvPr>
            <p:ph type="subTitle" idx="6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8" name="Google Shape;1168;p15"/>
          <p:cNvSpPr/>
          <p:nvPr/>
        </p:nvSpPr>
        <p:spPr>
          <a:xfrm rot="10800000">
            <a:off x="-4699" y="3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15"/>
          <p:cNvGrpSpPr/>
          <p:nvPr/>
        </p:nvGrpSpPr>
        <p:grpSpPr>
          <a:xfrm>
            <a:off x="8273608" y="4200586"/>
            <a:ext cx="1507871" cy="1510263"/>
            <a:chOff x="39184" y="-151930"/>
            <a:chExt cx="1309825" cy="1311903"/>
          </a:xfrm>
        </p:grpSpPr>
        <p:sp>
          <p:nvSpPr>
            <p:cNvPr id="1170" name="Google Shape;1170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7" name="Google Shape;1287;p15"/>
          <p:cNvGrpSpPr/>
          <p:nvPr/>
        </p:nvGrpSpPr>
        <p:grpSpPr>
          <a:xfrm flipH="1">
            <a:off x="8324346" y="-624146"/>
            <a:ext cx="1507871" cy="1510263"/>
            <a:chOff x="39184" y="-151930"/>
            <a:chExt cx="1309825" cy="1311903"/>
          </a:xfrm>
        </p:grpSpPr>
        <p:sp>
          <p:nvSpPr>
            <p:cNvPr id="1288" name="Google Shape;1288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16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8"/>
          <p:cNvSpPr txBox="1">
            <a:spLocks noGrp="1"/>
          </p:cNvSpPr>
          <p:nvPr>
            <p:ph type="title"/>
          </p:nvPr>
        </p:nvSpPr>
        <p:spPr>
          <a:xfrm>
            <a:off x="1977920" y="552450"/>
            <a:ext cx="51882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659" name="Google Shape;1659;p18"/>
          <p:cNvSpPr txBox="1">
            <a:spLocks noGrp="1"/>
          </p:cNvSpPr>
          <p:nvPr>
            <p:ph type="subTitle" idx="1"/>
          </p:nvPr>
        </p:nvSpPr>
        <p:spPr>
          <a:xfrm>
            <a:off x="1977876" y="1479800"/>
            <a:ext cx="51882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0" name="Google Shape;1660;p18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1" name="Google Shape;1661;p18"/>
          <p:cNvSpPr/>
          <p:nvPr/>
        </p:nvSpPr>
        <p:spPr>
          <a:xfrm rot="5400000">
            <a:off x="8403039" y="440253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2" name="Google Shape;1662;p18"/>
          <p:cNvGrpSpPr/>
          <p:nvPr/>
        </p:nvGrpSpPr>
        <p:grpSpPr>
          <a:xfrm>
            <a:off x="7650879" y="395671"/>
            <a:ext cx="1658229" cy="1282495"/>
            <a:chOff x="5136226" y="2246221"/>
            <a:chExt cx="1254144" cy="969970"/>
          </a:xfrm>
        </p:grpSpPr>
        <p:sp>
          <p:nvSpPr>
            <p:cNvPr id="1663" name="Google Shape;1663;p18"/>
            <p:cNvSpPr/>
            <p:nvPr/>
          </p:nvSpPr>
          <p:spPr>
            <a:xfrm>
              <a:off x="5448964" y="2246221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8"/>
            <p:cNvSpPr/>
            <p:nvPr/>
          </p:nvSpPr>
          <p:spPr>
            <a:xfrm>
              <a:off x="5136226" y="255895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8"/>
            <p:cNvSpPr/>
            <p:nvPr/>
          </p:nvSpPr>
          <p:spPr>
            <a:xfrm>
              <a:off x="5521989" y="2570071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8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7" name="Google Shape;1667;p18"/>
          <p:cNvSpPr/>
          <p:nvPr/>
        </p:nvSpPr>
        <p:spPr>
          <a:xfrm>
            <a:off x="8403036" y="3661572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18"/>
          <p:cNvGrpSpPr/>
          <p:nvPr/>
        </p:nvGrpSpPr>
        <p:grpSpPr>
          <a:xfrm>
            <a:off x="-333349" y="2817496"/>
            <a:ext cx="2187094" cy="2789634"/>
            <a:chOff x="3700202" y="2700338"/>
            <a:chExt cx="1654132" cy="2109842"/>
          </a:xfrm>
        </p:grpSpPr>
        <p:sp>
          <p:nvSpPr>
            <p:cNvPr id="1669" name="Google Shape;1669;p18"/>
            <p:cNvSpPr/>
            <p:nvPr/>
          </p:nvSpPr>
          <p:spPr>
            <a:xfrm>
              <a:off x="3700202" y="2700338"/>
              <a:ext cx="1654132" cy="2109842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8"/>
            <p:cNvSpPr/>
            <p:nvPr/>
          </p:nvSpPr>
          <p:spPr>
            <a:xfrm>
              <a:off x="3703377" y="3690938"/>
              <a:ext cx="1117623" cy="1117589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8"/>
            <p:cNvSpPr/>
            <p:nvPr/>
          </p:nvSpPr>
          <p:spPr>
            <a:xfrm>
              <a:off x="4057390" y="3656013"/>
              <a:ext cx="935041" cy="652454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8"/>
            <p:cNvSpPr/>
            <p:nvPr/>
          </p:nvSpPr>
          <p:spPr>
            <a:xfrm>
              <a:off x="3746240" y="3967163"/>
              <a:ext cx="935041" cy="652471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8"/>
            <p:cNvSpPr/>
            <p:nvPr/>
          </p:nvSpPr>
          <p:spPr>
            <a:xfrm>
              <a:off x="4128827" y="3976688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8"/>
            <p:cNvSpPr/>
            <p:nvPr/>
          </p:nvSpPr>
          <p:spPr>
            <a:xfrm>
              <a:off x="4211377" y="3895725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5" name="Google Shape;1675;p18"/>
          <p:cNvSpPr/>
          <p:nvPr/>
        </p:nvSpPr>
        <p:spPr>
          <a:xfrm>
            <a:off x="7659258" y="440253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18"/>
          <p:cNvGrpSpPr/>
          <p:nvPr/>
        </p:nvGrpSpPr>
        <p:grpSpPr>
          <a:xfrm>
            <a:off x="-520414" y="601975"/>
            <a:ext cx="1507871" cy="1510263"/>
            <a:chOff x="39184" y="-151930"/>
            <a:chExt cx="1309825" cy="1311903"/>
          </a:xfrm>
        </p:grpSpPr>
        <p:sp>
          <p:nvSpPr>
            <p:cNvPr id="1677" name="Google Shape;1677;p18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8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8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8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8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8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8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8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8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8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8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8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8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8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8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8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8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8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8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8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8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8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8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8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8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8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8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8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8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8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8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8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8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8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8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8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8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8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8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8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8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8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8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8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8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8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8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8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8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8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8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8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8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8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8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8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8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8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8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8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_1_1"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40" name="Google Shape;2040;p22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4" r:id="rId11"/>
    <p:sldLayoutId id="2147483665" r:id="rId12"/>
    <p:sldLayoutId id="2147483666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7"/>
          <p:cNvSpPr txBox="1">
            <a:spLocks noGrp="1"/>
          </p:cNvSpPr>
          <p:nvPr>
            <p:ph type="ctrTitle"/>
          </p:nvPr>
        </p:nvSpPr>
        <p:spPr>
          <a:xfrm>
            <a:off x="558150" y="1551192"/>
            <a:ext cx="8218311" cy="119856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9000"/>
            </a:pPr>
            <a:r>
              <a:rPr lang="en" sz="4000" dirty="0"/>
              <a:t>Project 1: </a:t>
            </a:r>
            <a:br>
              <a:rPr lang="en-US" sz="4000" dirty="0"/>
            </a:br>
            <a:r>
              <a:rPr lang="en-US" sz="4000" b="0" dirty="0"/>
              <a:t>Customer segment analysis</a:t>
            </a:r>
            <a:endParaRPr sz="4000" dirty="0"/>
          </a:p>
        </p:txBody>
      </p:sp>
      <p:sp>
        <p:nvSpPr>
          <p:cNvPr id="2057" name="Google Shape;2057;p27"/>
          <p:cNvSpPr txBox="1">
            <a:spLocks noGrp="1"/>
          </p:cNvSpPr>
          <p:nvPr>
            <p:ph type="subTitle" idx="1"/>
          </p:nvPr>
        </p:nvSpPr>
        <p:spPr>
          <a:xfrm>
            <a:off x="1618277" y="2855739"/>
            <a:ext cx="5788500" cy="66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Project on customer behavior analysis and segmentation based on transaction data</a:t>
            </a:r>
          </a:p>
        </p:txBody>
      </p:sp>
      <p:grpSp>
        <p:nvGrpSpPr>
          <p:cNvPr id="2058" name="Google Shape;2058;p27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59" name="Google Shape;2059;p27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4" name="Google Shape;2064;p27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65" name="Google Shape;2065;p27"/>
            <p:cNvSpPr/>
            <p:nvPr/>
          </p:nvSpPr>
          <p:spPr>
            <a:xfrm>
              <a:off x="3700202" y="2700338"/>
              <a:ext cx="1654132" cy="2109842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703377" y="3690938"/>
              <a:ext cx="1117623" cy="1117589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4057390" y="3656013"/>
              <a:ext cx="935041" cy="652454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3746240" y="3967163"/>
              <a:ext cx="935041" cy="652471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4128827" y="3976688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4211377" y="3895725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1" name="Google Shape;2071;p27"/>
          <p:cNvSpPr/>
          <p:nvPr/>
        </p:nvSpPr>
        <p:spPr>
          <a:xfrm>
            <a:off x="7505439" y="-2014745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Table of contents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518A3A-4987-8C46-CD42-6E34D577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257" y="1856887"/>
            <a:ext cx="3377477" cy="1005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744898-E647-6A95-A44F-AFB988266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0" y="3320957"/>
            <a:ext cx="2871465" cy="110347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5F06AE5-59C3-DE36-34A5-2628F7ACA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19" y="1790796"/>
            <a:ext cx="2871465" cy="10546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389C70-CDF4-FFE0-745F-438381CC3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730" y="3320957"/>
            <a:ext cx="2871465" cy="1103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5" name="Google Shape;2455;p38"/>
          <p:cNvGraphicFramePr/>
          <p:nvPr>
            <p:extLst>
              <p:ext uri="{D42A27DB-BD31-4B8C-83A1-F6EECF244321}">
                <p14:modId xmlns:p14="http://schemas.microsoft.com/office/powerpoint/2010/main" val="3738086093"/>
              </p:ext>
            </p:extLst>
          </p:nvPr>
        </p:nvGraphicFramePr>
        <p:xfrm>
          <a:off x="416560" y="984409"/>
          <a:ext cx="8158480" cy="4005203"/>
        </p:xfrm>
        <a:graphic>
          <a:graphicData uri="http://schemas.openxmlformats.org/drawingml/2006/table">
            <a:tbl>
              <a:tblPr firstRow="1" bandRow="1">
                <a:noFill/>
                <a:tableStyleId>{463F5789-61F1-4460-8BB7-7D2F9F56B811}</a:tableStyleId>
              </a:tblPr>
              <a:tblGrid>
                <a:gridCol w="1786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1383590"/>
                    </a:ext>
                  </a:extLst>
                </a:gridCol>
              </a:tblGrid>
              <a:tr h="5692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Fill_mode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Fill_median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Specific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9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u="none" strike="noStrike" cap="none" dirty="0" err="1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transactions_data</a:t>
                      </a: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Zip, merchant, </a:t>
                      </a:r>
                      <a:r>
                        <a:rPr lang="en-US" sz="1200" u="none" strike="noStrike" cap="none" dirty="0" err="1">
                          <a:latin typeface="Arimo"/>
                          <a:ea typeface="Arimo"/>
                          <a:cs typeface="Arimo"/>
                          <a:sym typeface="Arimo"/>
                        </a:rPr>
                        <a:t>state,mcc</a:t>
                      </a: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,…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amount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transactions_data.date</a:t>
                      </a:r>
                      <a:r>
                        <a:rPr lang="en-US" sz="1200" dirty="0"/>
                        <a:t> : fill backwards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transactions_data.errors</a:t>
                      </a:r>
                      <a:r>
                        <a:rPr lang="en-US" sz="1200" dirty="0"/>
                        <a:t> : fill constant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9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cards</a:t>
                      </a: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card_brand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card_type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credit_limit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num_cards_issued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year_pin_last_changed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cards.has_chip</a:t>
                      </a:r>
                      <a:endParaRPr lang="en-US" sz="12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/>
                        <a:t>cards.id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9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users</a:t>
                      </a: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/>
                        <a:t>gender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 err="1"/>
                        <a:t>per_capita_income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yearly_income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total_debt</a:t>
                      </a:r>
                      <a:r>
                        <a:rPr lang="en-US" sz="1200" dirty="0"/>
                        <a:t>,…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$: </a:t>
                      </a:r>
                      <a:r>
                        <a:rPr lang="en-US" sz="1200" u="none" strike="noStrike" cap="none" dirty="0" err="1">
                          <a:latin typeface="Arimo"/>
                          <a:ea typeface="Arimo"/>
                          <a:cs typeface="Arimo"/>
                          <a:sym typeface="Arimo"/>
                        </a:rPr>
                        <a:t>reomove</a:t>
                      </a: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 by specific def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Calibri"/>
                        <a:cs typeface="Poppins ExtraBold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Poppins ExtraBold"/>
                          <a:ea typeface="Calibri"/>
                          <a:cs typeface="Poppins ExtraBold"/>
                          <a:sym typeface="Arial"/>
                        </a:rPr>
                        <a:t>mcc_codes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Calibri"/>
                        <a:cs typeface="Poppins ExtraBold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830399"/>
                  </a:ext>
                </a:extLst>
              </a:tr>
              <a:tr h="4711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Calibri"/>
                        <a:cs typeface="Poppins ExtraBold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Poppins ExtraBold"/>
                          <a:ea typeface="Calibri"/>
                          <a:cs typeface="Poppins ExtraBold"/>
                          <a:sym typeface="Arial"/>
                        </a:rPr>
                        <a:t>train_fraud_labels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Poppins ExtraBold"/>
                        <a:ea typeface="Calibri"/>
                        <a:cs typeface="Poppins ExtraBold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 dirty="0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Arimo"/>
                          <a:ea typeface="Arimo"/>
                          <a:cs typeface="Arimo"/>
                          <a:sym typeface="Arimo"/>
                        </a:rPr>
                        <a:t>None</a:t>
                      </a:r>
                      <a:endParaRPr sz="1200" u="none" strike="noStrike" cap="none" dirty="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08971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536BEEC-EF83-7910-90C9-926D51013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18" y="153888"/>
            <a:ext cx="2646163" cy="788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E6F7AD-91C9-D8A3-B39F-AA9F481D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999" y="1263884"/>
            <a:ext cx="3670441" cy="2541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22C744-1F54-C4A3-83BB-F661A8C39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" y="1119609"/>
            <a:ext cx="5039360" cy="2819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3E068D-385C-99DF-97F4-AC6C39D68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27264"/>
              </p:ext>
            </p:extLst>
          </p:nvPr>
        </p:nvGraphicFramePr>
        <p:xfrm>
          <a:off x="1159727" y="1182029"/>
          <a:ext cx="6229408" cy="3501113"/>
        </p:xfrm>
        <a:graphic>
          <a:graphicData uri="http://schemas.openxmlformats.org/drawingml/2006/table">
            <a:tbl>
              <a:tblPr/>
              <a:tblGrid>
                <a:gridCol w="1557352">
                  <a:extLst>
                    <a:ext uri="{9D8B030D-6E8A-4147-A177-3AD203B41FA5}">
                      <a16:colId xmlns:a16="http://schemas.microsoft.com/office/drawing/2014/main" val="1349534556"/>
                    </a:ext>
                  </a:extLst>
                </a:gridCol>
                <a:gridCol w="1557352">
                  <a:extLst>
                    <a:ext uri="{9D8B030D-6E8A-4147-A177-3AD203B41FA5}">
                      <a16:colId xmlns:a16="http://schemas.microsoft.com/office/drawing/2014/main" val="17393226"/>
                    </a:ext>
                  </a:extLst>
                </a:gridCol>
                <a:gridCol w="1557352">
                  <a:extLst>
                    <a:ext uri="{9D8B030D-6E8A-4147-A177-3AD203B41FA5}">
                      <a16:colId xmlns:a16="http://schemas.microsoft.com/office/drawing/2014/main" val="1857664006"/>
                    </a:ext>
                  </a:extLst>
                </a:gridCol>
                <a:gridCol w="1557352">
                  <a:extLst>
                    <a:ext uri="{9D8B030D-6E8A-4147-A177-3AD203B41FA5}">
                      <a16:colId xmlns:a16="http://schemas.microsoft.com/office/drawing/2014/main" val="806895037"/>
                    </a:ext>
                  </a:extLst>
                </a:gridCol>
              </a:tblGrid>
              <a:tr h="52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Table merged into master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Common Column (Key)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Join Type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Notes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271045"/>
                  </a:ext>
                </a:extLst>
              </a:tr>
              <a:tr h="743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cards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card_id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Left join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Adds card information to each transaction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15623"/>
                  </a:ext>
                </a:extLst>
              </a:tr>
              <a:tr h="743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users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client_id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Left join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Adds customer/client information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73347"/>
                  </a:ext>
                </a:extLst>
              </a:tr>
              <a:tr h="743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mcc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mcc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Left join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Adds merchant category description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875241"/>
                  </a:ext>
                </a:extLst>
              </a:tr>
              <a:tr h="743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fraud</a:t>
                      </a:r>
                      <a:r>
                        <a:rPr lang="en-US" sz="1400" dirty="0"/>
                        <a:t> (only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is_fraud</a:t>
                      </a:r>
                      <a:r>
                        <a:rPr lang="en-US" sz="1400" dirty="0"/>
                        <a:t> columns kept)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id</a:t>
                      </a:r>
                      <a:endParaRPr lang="en-US" sz="1400"/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Left join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Attaches fraud label to each transaction</a:t>
                      </a:r>
                    </a:p>
                  </a:txBody>
                  <a:tcPr marL="90698" marR="90698" marT="45349" marB="453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B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8506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908D3DE-7717-3D46-7573-B41197B0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91" y="154011"/>
            <a:ext cx="2280133" cy="876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/>
          <p:cNvSpPr txBox="1">
            <a:spLocks noGrp="1"/>
          </p:cNvSpPr>
          <p:nvPr>
            <p:ph type="subTitle" idx="4"/>
          </p:nvPr>
        </p:nvSpPr>
        <p:spPr>
          <a:xfrm>
            <a:off x="4087189" y="767567"/>
            <a:ext cx="4809724" cy="58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Customer behavior analysis</a:t>
            </a:r>
            <a:endParaRPr sz="1600" dirty="0"/>
          </a:p>
        </p:txBody>
      </p:sp>
      <p:sp>
        <p:nvSpPr>
          <p:cNvPr id="2261" name="Google Shape;2261;p33"/>
          <p:cNvSpPr txBox="1">
            <a:spLocks noGrp="1"/>
          </p:cNvSpPr>
          <p:nvPr>
            <p:ph type="subTitle" idx="5"/>
          </p:nvPr>
        </p:nvSpPr>
        <p:spPr>
          <a:xfrm>
            <a:off x="4124098" y="3421687"/>
            <a:ext cx="272275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Proposal for company X</a:t>
            </a:r>
            <a:endParaRPr sz="1600" dirty="0"/>
          </a:p>
        </p:txBody>
      </p:sp>
      <p:sp>
        <p:nvSpPr>
          <p:cNvPr id="2262" name="Google Shape;2262;p33"/>
          <p:cNvSpPr txBox="1">
            <a:spLocks noGrp="1"/>
          </p:cNvSpPr>
          <p:nvPr>
            <p:ph type="subTitle" idx="6"/>
          </p:nvPr>
        </p:nvSpPr>
        <p:spPr>
          <a:xfrm>
            <a:off x="3916142" y="2059386"/>
            <a:ext cx="3761673" cy="373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600" dirty="0"/>
              <a:t>Developing customer segments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9F07D-7A28-1896-B6FC-651605749101}"/>
              </a:ext>
            </a:extLst>
          </p:cNvPr>
          <p:cNvGrpSpPr/>
          <p:nvPr/>
        </p:nvGrpSpPr>
        <p:grpSpPr>
          <a:xfrm>
            <a:off x="3381347" y="3336332"/>
            <a:ext cx="634500" cy="634500"/>
            <a:chOff x="6152027" y="1993516"/>
            <a:chExt cx="634500" cy="634500"/>
          </a:xfrm>
        </p:grpSpPr>
        <p:sp>
          <p:nvSpPr>
            <p:cNvPr id="2266" name="Google Shape;2266;p33"/>
            <p:cNvSpPr/>
            <p:nvPr/>
          </p:nvSpPr>
          <p:spPr>
            <a:xfrm>
              <a:off x="6152027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7" name="Google Shape;2267;p33"/>
            <p:cNvGrpSpPr/>
            <p:nvPr/>
          </p:nvGrpSpPr>
          <p:grpSpPr>
            <a:xfrm>
              <a:off x="6260278" y="2107779"/>
              <a:ext cx="393700" cy="396886"/>
              <a:chOff x="3984625" y="1658938"/>
              <a:chExt cx="393700" cy="396886"/>
            </a:xfrm>
          </p:grpSpPr>
          <p:sp>
            <p:nvSpPr>
              <p:cNvPr id="2268" name="Google Shape;2268;p33"/>
              <p:cNvSpPr/>
              <p:nvPr/>
            </p:nvSpPr>
            <p:spPr>
              <a:xfrm>
                <a:off x="4175125" y="1844675"/>
                <a:ext cx="8254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1250" extrusionOk="0">
                    <a:moveTo>
                      <a:pt x="2050" y="957"/>
                    </a:moveTo>
                    <a:lnTo>
                      <a:pt x="673" y="110"/>
                    </a:lnTo>
                    <a:cubicBezTo>
                      <a:pt x="656" y="100"/>
                      <a:pt x="637" y="93"/>
                      <a:pt x="618" y="90"/>
                    </a:cubicBezTo>
                    <a:lnTo>
                      <a:pt x="187" y="14"/>
                    </a:lnTo>
                    <a:cubicBezTo>
                      <a:pt x="107" y="0"/>
                      <a:pt x="29" y="55"/>
                      <a:pt x="14" y="135"/>
                    </a:cubicBezTo>
                    <a:cubicBezTo>
                      <a:pt x="0" y="214"/>
                      <a:pt x="55" y="293"/>
                      <a:pt x="135" y="307"/>
                    </a:cubicBezTo>
                    <a:lnTo>
                      <a:pt x="542" y="378"/>
                    </a:lnTo>
                    <a:lnTo>
                      <a:pt x="1895" y="1210"/>
                    </a:lnTo>
                    <a:cubicBezTo>
                      <a:pt x="1961" y="1250"/>
                      <a:pt x="2051" y="1231"/>
                      <a:pt x="2095" y="1167"/>
                    </a:cubicBezTo>
                    <a:cubicBezTo>
                      <a:pt x="2142" y="1098"/>
                      <a:pt x="2121" y="1000"/>
                      <a:pt x="2050" y="957"/>
                    </a:cubicBezTo>
                    <a:close/>
                    <a:moveTo>
                      <a:pt x="2050" y="957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33"/>
              <p:cNvSpPr/>
              <p:nvPr/>
            </p:nvSpPr>
            <p:spPr>
              <a:xfrm>
                <a:off x="3984625" y="1658938"/>
                <a:ext cx="393700" cy="396886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206" extrusionOk="0">
                    <a:moveTo>
                      <a:pt x="10104" y="5782"/>
                    </a:moveTo>
                    <a:cubicBezTo>
                      <a:pt x="10048" y="5722"/>
                      <a:pt x="9954" y="5719"/>
                      <a:pt x="9894" y="5775"/>
                    </a:cubicBezTo>
                    <a:lnTo>
                      <a:pt x="9292" y="6338"/>
                    </a:lnTo>
                    <a:lnTo>
                      <a:pt x="6532" y="3614"/>
                    </a:lnTo>
                    <a:lnTo>
                      <a:pt x="10097" y="273"/>
                    </a:lnTo>
                    <a:cubicBezTo>
                      <a:pt x="10157" y="217"/>
                      <a:pt x="10160" y="123"/>
                      <a:pt x="10104" y="63"/>
                    </a:cubicBezTo>
                    <a:cubicBezTo>
                      <a:pt x="10048" y="3"/>
                      <a:pt x="9954" y="0"/>
                      <a:pt x="9894" y="56"/>
                    </a:cubicBezTo>
                    <a:lnTo>
                      <a:pt x="6215" y="3503"/>
                    </a:lnTo>
                    <a:cubicBezTo>
                      <a:pt x="6155" y="3560"/>
                      <a:pt x="6154" y="3659"/>
                      <a:pt x="6213" y="3718"/>
                    </a:cubicBezTo>
                    <a:lnTo>
                      <a:pt x="6457" y="3958"/>
                    </a:lnTo>
                    <a:lnTo>
                      <a:pt x="6379" y="4027"/>
                    </a:lnTo>
                    <a:lnTo>
                      <a:pt x="4747" y="3887"/>
                    </a:lnTo>
                    <a:cubicBezTo>
                      <a:pt x="4722" y="3885"/>
                      <a:pt x="4696" y="3889"/>
                      <a:pt x="4673" y="3900"/>
                    </a:cubicBezTo>
                    <a:lnTo>
                      <a:pt x="3380" y="4488"/>
                    </a:lnTo>
                    <a:cubicBezTo>
                      <a:pt x="3376" y="4488"/>
                      <a:pt x="3372" y="4487"/>
                      <a:pt x="3368" y="4486"/>
                    </a:cubicBezTo>
                    <a:lnTo>
                      <a:pt x="2624" y="4355"/>
                    </a:lnTo>
                    <a:lnTo>
                      <a:pt x="2684" y="4201"/>
                    </a:lnTo>
                    <a:cubicBezTo>
                      <a:pt x="2714" y="4125"/>
                      <a:pt x="2677" y="4039"/>
                      <a:pt x="2601" y="4009"/>
                    </a:cubicBezTo>
                    <a:lnTo>
                      <a:pt x="224" y="3058"/>
                    </a:lnTo>
                    <a:cubicBezTo>
                      <a:pt x="147" y="3027"/>
                      <a:pt x="61" y="3064"/>
                      <a:pt x="31" y="3141"/>
                    </a:cubicBezTo>
                    <a:cubicBezTo>
                      <a:pt x="0" y="3217"/>
                      <a:pt x="37" y="3303"/>
                      <a:pt x="113" y="3334"/>
                    </a:cubicBezTo>
                    <a:lnTo>
                      <a:pt x="2354" y="4230"/>
                    </a:lnTo>
                    <a:lnTo>
                      <a:pt x="1034" y="7604"/>
                    </a:lnTo>
                    <a:lnTo>
                      <a:pt x="218" y="7315"/>
                    </a:lnTo>
                    <a:cubicBezTo>
                      <a:pt x="141" y="7288"/>
                      <a:pt x="56" y="7329"/>
                      <a:pt x="28" y="7406"/>
                    </a:cubicBezTo>
                    <a:cubicBezTo>
                      <a:pt x="1" y="7483"/>
                      <a:pt x="42" y="7568"/>
                      <a:pt x="119" y="7596"/>
                    </a:cubicBezTo>
                    <a:lnTo>
                      <a:pt x="1070" y="7932"/>
                    </a:lnTo>
                    <a:cubicBezTo>
                      <a:pt x="1145" y="7959"/>
                      <a:pt x="1229" y="7920"/>
                      <a:pt x="1258" y="7847"/>
                    </a:cubicBezTo>
                    <a:lnTo>
                      <a:pt x="1479" y="7283"/>
                    </a:lnTo>
                    <a:lnTo>
                      <a:pt x="2057" y="7607"/>
                    </a:lnTo>
                    <a:lnTo>
                      <a:pt x="1993" y="7710"/>
                    </a:lnTo>
                    <a:cubicBezTo>
                      <a:pt x="1812" y="8003"/>
                      <a:pt x="1904" y="8388"/>
                      <a:pt x="2196" y="8569"/>
                    </a:cubicBezTo>
                    <a:cubicBezTo>
                      <a:pt x="2351" y="8664"/>
                      <a:pt x="2544" y="8687"/>
                      <a:pt x="2717" y="8631"/>
                    </a:cubicBezTo>
                    <a:cubicBezTo>
                      <a:pt x="2744" y="8811"/>
                      <a:pt x="2850" y="8972"/>
                      <a:pt x="3006" y="9068"/>
                    </a:cubicBezTo>
                    <a:cubicBezTo>
                      <a:pt x="3161" y="9164"/>
                      <a:pt x="3353" y="9186"/>
                      <a:pt x="3526" y="9130"/>
                    </a:cubicBezTo>
                    <a:cubicBezTo>
                      <a:pt x="3554" y="9311"/>
                      <a:pt x="3660" y="9472"/>
                      <a:pt x="3815" y="9568"/>
                    </a:cubicBezTo>
                    <a:cubicBezTo>
                      <a:pt x="3970" y="9663"/>
                      <a:pt x="4162" y="9686"/>
                      <a:pt x="4335" y="9630"/>
                    </a:cubicBezTo>
                    <a:cubicBezTo>
                      <a:pt x="4363" y="9810"/>
                      <a:pt x="4469" y="9971"/>
                      <a:pt x="4624" y="10067"/>
                    </a:cubicBezTo>
                    <a:cubicBezTo>
                      <a:pt x="4850" y="10206"/>
                      <a:pt x="5149" y="10185"/>
                      <a:pt x="5353" y="10015"/>
                    </a:cubicBezTo>
                    <a:cubicBezTo>
                      <a:pt x="5404" y="9972"/>
                      <a:pt x="5448" y="9921"/>
                      <a:pt x="5483" y="9864"/>
                    </a:cubicBezTo>
                    <a:lnTo>
                      <a:pt x="5585" y="9699"/>
                    </a:lnTo>
                    <a:lnTo>
                      <a:pt x="5668" y="9751"/>
                    </a:lnTo>
                    <a:cubicBezTo>
                      <a:pt x="5894" y="9890"/>
                      <a:pt x="6193" y="9868"/>
                      <a:pt x="6396" y="9697"/>
                    </a:cubicBezTo>
                    <a:cubicBezTo>
                      <a:pt x="6448" y="9654"/>
                      <a:pt x="6492" y="9603"/>
                      <a:pt x="6527" y="9546"/>
                    </a:cubicBezTo>
                    <a:cubicBezTo>
                      <a:pt x="6596" y="9432"/>
                      <a:pt x="6625" y="9305"/>
                      <a:pt x="6618" y="9181"/>
                    </a:cubicBezTo>
                    <a:cubicBezTo>
                      <a:pt x="6665" y="9193"/>
                      <a:pt x="6713" y="9199"/>
                      <a:pt x="6762" y="9199"/>
                    </a:cubicBezTo>
                    <a:cubicBezTo>
                      <a:pt x="6978" y="9199"/>
                      <a:pt x="7182" y="9085"/>
                      <a:pt x="7295" y="8901"/>
                    </a:cubicBezTo>
                    <a:cubicBezTo>
                      <a:pt x="7363" y="8791"/>
                      <a:pt x="7394" y="8664"/>
                      <a:pt x="7386" y="8537"/>
                    </a:cubicBezTo>
                    <a:cubicBezTo>
                      <a:pt x="7433" y="8548"/>
                      <a:pt x="7481" y="8554"/>
                      <a:pt x="7530" y="8554"/>
                    </a:cubicBezTo>
                    <a:cubicBezTo>
                      <a:pt x="7746" y="8554"/>
                      <a:pt x="7950" y="8441"/>
                      <a:pt x="8063" y="8257"/>
                    </a:cubicBezTo>
                    <a:cubicBezTo>
                      <a:pt x="8131" y="8146"/>
                      <a:pt x="8162" y="8020"/>
                      <a:pt x="8154" y="7893"/>
                    </a:cubicBezTo>
                    <a:cubicBezTo>
                      <a:pt x="8202" y="7904"/>
                      <a:pt x="8250" y="7910"/>
                      <a:pt x="8298" y="7910"/>
                    </a:cubicBezTo>
                    <a:cubicBezTo>
                      <a:pt x="8508" y="7910"/>
                      <a:pt x="8713" y="7804"/>
                      <a:pt x="8831" y="7613"/>
                    </a:cubicBezTo>
                    <a:cubicBezTo>
                      <a:pt x="9011" y="7319"/>
                      <a:pt x="8919" y="6934"/>
                      <a:pt x="8626" y="6754"/>
                    </a:cubicBezTo>
                    <a:lnTo>
                      <a:pt x="8524" y="6692"/>
                    </a:lnTo>
                    <a:lnTo>
                      <a:pt x="8865" y="6335"/>
                    </a:lnTo>
                    <a:lnTo>
                      <a:pt x="9185" y="6650"/>
                    </a:lnTo>
                    <a:cubicBezTo>
                      <a:pt x="9241" y="6705"/>
                      <a:pt x="9333" y="6706"/>
                      <a:pt x="9391" y="6653"/>
                    </a:cubicBezTo>
                    <a:lnTo>
                      <a:pt x="10097" y="5992"/>
                    </a:lnTo>
                    <a:cubicBezTo>
                      <a:pt x="10157" y="5936"/>
                      <a:pt x="10160" y="5842"/>
                      <a:pt x="10104" y="5782"/>
                    </a:cubicBezTo>
                    <a:close/>
                    <a:moveTo>
                      <a:pt x="2802" y="8209"/>
                    </a:moveTo>
                    <a:cubicBezTo>
                      <a:pt x="2708" y="8363"/>
                      <a:pt x="2506" y="8410"/>
                      <a:pt x="2352" y="8316"/>
                    </a:cubicBezTo>
                    <a:cubicBezTo>
                      <a:pt x="2199" y="8221"/>
                      <a:pt x="2151" y="8019"/>
                      <a:pt x="2246" y="7866"/>
                    </a:cubicBezTo>
                    <a:lnTo>
                      <a:pt x="3078" y="6517"/>
                    </a:lnTo>
                    <a:cubicBezTo>
                      <a:pt x="3171" y="6367"/>
                      <a:pt x="3370" y="6317"/>
                      <a:pt x="3523" y="6407"/>
                    </a:cubicBezTo>
                    <a:cubicBezTo>
                      <a:pt x="3680" y="6500"/>
                      <a:pt x="3724" y="6716"/>
                      <a:pt x="3629" y="6869"/>
                    </a:cubicBezTo>
                    <a:lnTo>
                      <a:pt x="2802" y="8209"/>
                    </a:lnTo>
                    <a:close/>
                    <a:moveTo>
                      <a:pt x="3612" y="8709"/>
                    </a:moveTo>
                    <a:cubicBezTo>
                      <a:pt x="3517" y="8862"/>
                      <a:pt x="3315" y="8910"/>
                      <a:pt x="3162" y="8815"/>
                    </a:cubicBezTo>
                    <a:cubicBezTo>
                      <a:pt x="3010" y="8722"/>
                      <a:pt x="2962" y="8517"/>
                      <a:pt x="3055" y="8365"/>
                    </a:cubicBezTo>
                    <a:lnTo>
                      <a:pt x="3721" y="7286"/>
                    </a:lnTo>
                    <a:cubicBezTo>
                      <a:pt x="3814" y="7136"/>
                      <a:pt x="4013" y="7086"/>
                      <a:pt x="4165" y="7176"/>
                    </a:cubicBezTo>
                    <a:cubicBezTo>
                      <a:pt x="4323" y="7270"/>
                      <a:pt x="4366" y="7485"/>
                      <a:pt x="4272" y="7639"/>
                    </a:cubicBezTo>
                    <a:lnTo>
                      <a:pt x="3612" y="8709"/>
                    </a:lnTo>
                    <a:close/>
                    <a:moveTo>
                      <a:pt x="4421" y="9208"/>
                    </a:moveTo>
                    <a:cubicBezTo>
                      <a:pt x="4375" y="9282"/>
                      <a:pt x="4303" y="9334"/>
                      <a:pt x="4218" y="9355"/>
                    </a:cubicBezTo>
                    <a:cubicBezTo>
                      <a:pt x="4133" y="9375"/>
                      <a:pt x="4045" y="9360"/>
                      <a:pt x="3971" y="9315"/>
                    </a:cubicBezTo>
                    <a:cubicBezTo>
                      <a:pt x="3820" y="9221"/>
                      <a:pt x="3771" y="9017"/>
                      <a:pt x="3865" y="8865"/>
                    </a:cubicBezTo>
                    <a:lnTo>
                      <a:pt x="4364" y="8055"/>
                    </a:lnTo>
                    <a:cubicBezTo>
                      <a:pt x="4457" y="7905"/>
                      <a:pt x="4656" y="7856"/>
                      <a:pt x="4808" y="7946"/>
                    </a:cubicBezTo>
                    <a:cubicBezTo>
                      <a:pt x="4966" y="8039"/>
                      <a:pt x="5009" y="8255"/>
                      <a:pt x="4915" y="8408"/>
                    </a:cubicBezTo>
                    <a:lnTo>
                      <a:pt x="4421" y="9208"/>
                    </a:lnTo>
                    <a:close/>
                    <a:moveTo>
                      <a:pt x="5558" y="9177"/>
                    </a:moveTo>
                    <a:lnTo>
                      <a:pt x="5230" y="9708"/>
                    </a:lnTo>
                    <a:cubicBezTo>
                      <a:pt x="5137" y="9859"/>
                      <a:pt x="4932" y="9908"/>
                      <a:pt x="4780" y="9814"/>
                    </a:cubicBezTo>
                    <a:cubicBezTo>
                      <a:pt x="4629" y="9720"/>
                      <a:pt x="4580" y="9516"/>
                      <a:pt x="4674" y="9364"/>
                    </a:cubicBezTo>
                    <a:lnTo>
                      <a:pt x="5007" y="8825"/>
                    </a:lnTo>
                    <a:cubicBezTo>
                      <a:pt x="5100" y="8674"/>
                      <a:pt x="5299" y="8625"/>
                      <a:pt x="5451" y="8715"/>
                    </a:cubicBezTo>
                    <a:cubicBezTo>
                      <a:pt x="5609" y="8808"/>
                      <a:pt x="5652" y="9024"/>
                      <a:pt x="5558" y="9177"/>
                    </a:cubicBezTo>
                    <a:close/>
                    <a:moveTo>
                      <a:pt x="8265" y="6532"/>
                    </a:moveTo>
                    <a:lnTo>
                      <a:pt x="7528" y="6080"/>
                    </a:lnTo>
                    <a:cubicBezTo>
                      <a:pt x="7460" y="6038"/>
                      <a:pt x="7366" y="6060"/>
                      <a:pt x="7324" y="6129"/>
                    </a:cubicBezTo>
                    <a:cubicBezTo>
                      <a:pt x="7282" y="6197"/>
                      <a:pt x="7304" y="6291"/>
                      <a:pt x="7373" y="6333"/>
                    </a:cubicBezTo>
                    <a:lnTo>
                      <a:pt x="8470" y="7007"/>
                    </a:lnTo>
                    <a:cubicBezTo>
                      <a:pt x="8623" y="7102"/>
                      <a:pt x="8672" y="7303"/>
                      <a:pt x="8577" y="7457"/>
                    </a:cubicBezTo>
                    <a:cubicBezTo>
                      <a:pt x="8483" y="7611"/>
                      <a:pt x="8281" y="7659"/>
                      <a:pt x="8128" y="7564"/>
                    </a:cubicBezTo>
                    <a:lnTo>
                      <a:pt x="6951" y="6841"/>
                    </a:lnTo>
                    <a:cubicBezTo>
                      <a:pt x="6881" y="6798"/>
                      <a:pt x="6789" y="6820"/>
                      <a:pt x="6746" y="6890"/>
                    </a:cubicBezTo>
                    <a:cubicBezTo>
                      <a:pt x="6703" y="6960"/>
                      <a:pt x="6725" y="7051"/>
                      <a:pt x="6795" y="7094"/>
                    </a:cubicBezTo>
                    <a:lnTo>
                      <a:pt x="7702" y="7652"/>
                    </a:lnTo>
                    <a:cubicBezTo>
                      <a:pt x="7854" y="7745"/>
                      <a:pt x="7903" y="7949"/>
                      <a:pt x="7809" y="8101"/>
                    </a:cubicBezTo>
                    <a:cubicBezTo>
                      <a:pt x="7716" y="8253"/>
                      <a:pt x="7512" y="8302"/>
                      <a:pt x="7360" y="8209"/>
                    </a:cubicBezTo>
                    <a:lnTo>
                      <a:pt x="6538" y="7704"/>
                    </a:lnTo>
                    <a:cubicBezTo>
                      <a:pt x="6468" y="7661"/>
                      <a:pt x="6376" y="7683"/>
                      <a:pt x="6333" y="7752"/>
                    </a:cubicBezTo>
                    <a:cubicBezTo>
                      <a:pt x="6291" y="7822"/>
                      <a:pt x="6312" y="7914"/>
                      <a:pt x="6382" y="7957"/>
                    </a:cubicBezTo>
                    <a:lnTo>
                      <a:pt x="6934" y="8296"/>
                    </a:lnTo>
                    <a:cubicBezTo>
                      <a:pt x="7086" y="8389"/>
                      <a:pt x="7135" y="8594"/>
                      <a:pt x="7041" y="8746"/>
                    </a:cubicBezTo>
                    <a:cubicBezTo>
                      <a:pt x="6948" y="8897"/>
                      <a:pt x="6744" y="8946"/>
                      <a:pt x="6592" y="8853"/>
                    </a:cubicBezTo>
                    <a:cubicBezTo>
                      <a:pt x="6592" y="8853"/>
                      <a:pt x="6106" y="8555"/>
                      <a:pt x="6102" y="8553"/>
                    </a:cubicBezTo>
                    <a:cubicBezTo>
                      <a:pt x="6034" y="8520"/>
                      <a:pt x="5951" y="8543"/>
                      <a:pt x="5911" y="8609"/>
                    </a:cubicBezTo>
                    <a:cubicBezTo>
                      <a:pt x="5868" y="8679"/>
                      <a:pt x="5890" y="8770"/>
                      <a:pt x="5960" y="8813"/>
                    </a:cubicBezTo>
                    <a:lnTo>
                      <a:pt x="6166" y="8940"/>
                    </a:lnTo>
                    <a:cubicBezTo>
                      <a:pt x="6320" y="9035"/>
                      <a:pt x="6368" y="9236"/>
                      <a:pt x="6274" y="9390"/>
                    </a:cubicBezTo>
                    <a:cubicBezTo>
                      <a:pt x="6180" y="9542"/>
                      <a:pt x="5976" y="9591"/>
                      <a:pt x="5824" y="9497"/>
                    </a:cubicBezTo>
                    <a:lnTo>
                      <a:pt x="5741" y="9446"/>
                    </a:lnTo>
                    <a:lnTo>
                      <a:pt x="5811" y="9333"/>
                    </a:lnTo>
                    <a:cubicBezTo>
                      <a:pt x="5900" y="9188"/>
                      <a:pt x="5928" y="9010"/>
                      <a:pt x="5887" y="8844"/>
                    </a:cubicBezTo>
                    <a:cubicBezTo>
                      <a:pt x="5846" y="8680"/>
                      <a:pt x="5745" y="8543"/>
                      <a:pt x="5603" y="8459"/>
                    </a:cubicBezTo>
                    <a:cubicBezTo>
                      <a:pt x="5491" y="8393"/>
                      <a:pt x="5367" y="8366"/>
                      <a:pt x="5245" y="8375"/>
                    </a:cubicBezTo>
                    <a:cubicBezTo>
                      <a:pt x="5268" y="8277"/>
                      <a:pt x="5268" y="8174"/>
                      <a:pt x="5244" y="8075"/>
                    </a:cubicBezTo>
                    <a:cubicBezTo>
                      <a:pt x="5203" y="7911"/>
                      <a:pt x="5102" y="7774"/>
                      <a:pt x="4960" y="7690"/>
                    </a:cubicBezTo>
                    <a:cubicBezTo>
                      <a:pt x="4848" y="7624"/>
                      <a:pt x="4724" y="7597"/>
                      <a:pt x="4602" y="7605"/>
                    </a:cubicBezTo>
                    <a:cubicBezTo>
                      <a:pt x="4664" y="7342"/>
                      <a:pt x="4551" y="7059"/>
                      <a:pt x="4317" y="6920"/>
                    </a:cubicBezTo>
                    <a:cubicBezTo>
                      <a:pt x="4205" y="6855"/>
                      <a:pt x="4081" y="6828"/>
                      <a:pt x="3960" y="6836"/>
                    </a:cubicBezTo>
                    <a:cubicBezTo>
                      <a:pt x="4021" y="6573"/>
                      <a:pt x="3908" y="6290"/>
                      <a:pt x="3674" y="6151"/>
                    </a:cubicBezTo>
                    <a:cubicBezTo>
                      <a:pt x="3383" y="5979"/>
                      <a:pt x="3003" y="6074"/>
                      <a:pt x="2825" y="6361"/>
                    </a:cubicBezTo>
                    <a:lnTo>
                      <a:pt x="2213" y="7353"/>
                    </a:lnTo>
                    <a:lnTo>
                      <a:pt x="1588" y="7003"/>
                    </a:lnTo>
                    <a:lnTo>
                      <a:pt x="2514" y="4637"/>
                    </a:lnTo>
                    <a:lnTo>
                      <a:pt x="3018" y="4726"/>
                    </a:lnTo>
                    <a:cubicBezTo>
                      <a:pt x="2875" y="4904"/>
                      <a:pt x="2834" y="5155"/>
                      <a:pt x="2935" y="5377"/>
                    </a:cubicBezTo>
                    <a:cubicBezTo>
                      <a:pt x="3040" y="5606"/>
                      <a:pt x="3267" y="5742"/>
                      <a:pt x="3504" y="5742"/>
                    </a:cubicBezTo>
                    <a:cubicBezTo>
                      <a:pt x="3591" y="5742"/>
                      <a:pt x="3678" y="5724"/>
                      <a:pt x="3762" y="5686"/>
                    </a:cubicBezTo>
                    <a:lnTo>
                      <a:pt x="4632" y="5289"/>
                    </a:lnTo>
                    <a:cubicBezTo>
                      <a:pt x="4706" y="5256"/>
                      <a:pt x="4739" y="5166"/>
                      <a:pt x="4706" y="5093"/>
                    </a:cubicBezTo>
                    <a:cubicBezTo>
                      <a:pt x="4672" y="5019"/>
                      <a:pt x="4583" y="4985"/>
                      <a:pt x="4509" y="5019"/>
                    </a:cubicBezTo>
                    <a:lnTo>
                      <a:pt x="3639" y="5415"/>
                    </a:lnTo>
                    <a:cubicBezTo>
                      <a:pt x="3475" y="5490"/>
                      <a:pt x="3280" y="5417"/>
                      <a:pt x="3206" y="5253"/>
                    </a:cubicBezTo>
                    <a:cubicBezTo>
                      <a:pt x="3131" y="5089"/>
                      <a:pt x="3204" y="4895"/>
                      <a:pt x="3368" y="4820"/>
                    </a:cubicBezTo>
                    <a:lnTo>
                      <a:pt x="4760" y="4186"/>
                    </a:lnTo>
                    <a:lnTo>
                      <a:pt x="6417" y="4329"/>
                    </a:lnTo>
                    <a:cubicBezTo>
                      <a:pt x="6421" y="4329"/>
                      <a:pt x="6425" y="4329"/>
                      <a:pt x="6430" y="4329"/>
                    </a:cubicBezTo>
                    <a:cubicBezTo>
                      <a:pt x="6466" y="4329"/>
                      <a:pt x="6501" y="4316"/>
                      <a:pt x="6528" y="4292"/>
                    </a:cubicBezTo>
                    <a:lnTo>
                      <a:pt x="6669" y="4168"/>
                    </a:lnTo>
                    <a:lnTo>
                      <a:pt x="8654" y="6126"/>
                    </a:lnTo>
                    <a:lnTo>
                      <a:pt x="8265" y="6532"/>
                    </a:lnTo>
                    <a:close/>
                    <a:moveTo>
                      <a:pt x="8265" y="653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2CD2D3-8127-5540-0E33-24D0788BEDAF}"/>
              </a:ext>
            </a:extLst>
          </p:cNvPr>
          <p:cNvGrpSpPr/>
          <p:nvPr/>
        </p:nvGrpSpPr>
        <p:grpSpPr>
          <a:xfrm>
            <a:off x="3381347" y="1920598"/>
            <a:ext cx="634500" cy="634500"/>
            <a:chOff x="3511183" y="1993516"/>
            <a:chExt cx="634500" cy="634500"/>
          </a:xfrm>
        </p:grpSpPr>
        <p:sp>
          <p:nvSpPr>
            <p:cNvPr id="2265" name="Google Shape;2265;p33"/>
            <p:cNvSpPr/>
            <p:nvPr/>
          </p:nvSpPr>
          <p:spPr>
            <a:xfrm>
              <a:off x="3511183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0" name="Google Shape;2270;p33"/>
            <p:cNvGrpSpPr/>
            <p:nvPr/>
          </p:nvGrpSpPr>
          <p:grpSpPr>
            <a:xfrm>
              <a:off x="3631643" y="2117315"/>
              <a:ext cx="393701" cy="395292"/>
              <a:chOff x="3197225" y="1658938"/>
              <a:chExt cx="393701" cy="395292"/>
            </a:xfrm>
          </p:grpSpPr>
          <p:sp>
            <p:nvSpPr>
              <p:cNvPr id="2271" name="Google Shape;2271;p33"/>
              <p:cNvSpPr/>
              <p:nvPr/>
            </p:nvSpPr>
            <p:spPr>
              <a:xfrm>
                <a:off x="3197225" y="1658938"/>
                <a:ext cx="393701" cy="395292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50" extrusionOk="0">
                    <a:moveTo>
                      <a:pt x="9994" y="1118"/>
                    </a:moveTo>
                    <a:lnTo>
                      <a:pt x="7017" y="1118"/>
                    </a:lnTo>
                    <a:lnTo>
                      <a:pt x="5146" y="27"/>
                    </a:lnTo>
                    <a:cubicBezTo>
                      <a:pt x="5100" y="0"/>
                      <a:pt x="5043" y="0"/>
                      <a:pt x="4996" y="27"/>
                    </a:cubicBezTo>
                    <a:lnTo>
                      <a:pt x="3125" y="1118"/>
                    </a:lnTo>
                    <a:lnTo>
                      <a:pt x="149" y="1118"/>
                    </a:lnTo>
                    <a:cubicBezTo>
                      <a:pt x="66" y="1118"/>
                      <a:pt x="0" y="1185"/>
                      <a:pt x="0" y="1267"/>
                    </a:cubicBezTo>
                    <a:lnTo>
                      <a:pt x="0" y="1902"/>
                    </a:lnTo>
                    <a:cubicBezTo>
                      <a:pt x="0" y="1984"/>
                      <a:pt x="66" y="2051"/>
                      <a:pt x="149" y="2051"/>
                    </a:cubicBezTo>
                    <a:lnTo>
                      <a:pt x="476" y="2051"/>
                    </a:lnTo>
                    <a:lnTo>
                      <a:pt x="476" y="8254"/>
                    </a:lnTo>
                    <a:cubicBezTo>
                      <a:pt x="476" y="8336"/>
                      <a:pt x="543" y="8403"/>
                      <a:pt x="625" y="8403"/>
                    </a:cubicBezTo>
                    <a:lnTo>
                      <a:pt x="4922" y="8403"/>
                    </a:lnTo>
                    <a:lnTo>
                      <a:pt x="4922" y="9852"/>
                    </a:lnTo>
                    <a:lnTo>
                      <a:pt x="4436" y="9852"/>
                    </a:lnTo>
                    <a:cubicBezTo>
                      <a:pt x="4354" y="9852"/>
                      <a:pt x="4287" y="9919"/>
                      <a:pt x="4287" y="10001"/>
                    </a:cubicBezTo>
                    <a:cubicBezTo>
                      <a:pt x="4287" y="10083"/>
                      <a:pt x="4354" y="10150"/>
                      <a:pt x="4436" y="10150"/>
                    </a:cubicBezTo>
                    <a:lnTo>
                      <a:pt x="5706" y="10150"/>
                    </a:lnTo>
                    <a:cubicBezTo>
                      <a:pt x="5789" y="10150"/>
                      <a:pt x="5855" y="10083"/>
                      <a:pt x="5855" y="10001"/>
                    </a:cubicBezTo>
                    <a:cubicBezTo>
                      <a:pt x="5855" y="9919"/>
                      <a:pt x="5789" y="9852"/>
                      <a:pt x="5706" y="9852"/>
                    </a:cubicBezTo>
                    <a:lnTo>
                      <a:pt x="5220" y="9852"/>
                    </a:lnTo>
                    <a:lnTo>
                      <a:pt x="5220" y="8403"/>
                    </a:lnTo>
                    <a:lnTo>
                      <a:pt x="9518" y="8403"/>
                    </a:lnTo>
                    <a:cubicBezTo>
                      <a:pt x="9600" y="8403"/>
                      <a:pt x="9666" y="8336"/>
                      <a:pt x="9666" y="8254"/>
                    </a:cubicBezTo>
                    <a:lnTo>
                      <a:pt x="9666" y="2051"/>
                    </a:lnTo>
                    <a:lnTo>
                      <a:pt x="9994" y="2051"/>
                    </a:lnTo>
                    <a:cubicBezTo>
                      <a:pt x="10076" y="2051"/>
                      <a:pt x="10143" y="1984"/>
                      <a:pt x="10143" y="1902"/>
                    </a:cubicBezTo>
                    <a:lnTo>
                      <a:pt x="10143" y="1267"/>
                    </a:lnTo>
                    <a:cubicBezTo>
                      <a:pt x="10143" y="1185"/>
                      <a:pt x="10076" y="1118"/>
                      <a:pt x="9994" y="1118"/>
                    </a:cubicBezTo>
                    <a:close/>
                    <a:moveTo>
                      <a:pt x="5071" y="328"/>
                    </a:moveTo>
                    <a:lnTo>
                      <a:pt x="6426" y="1118"/>
                    </a:lnTo>
                    <a:lnTo>
                      <a:pt x="3716" y="1118"/>
                    </a:lnTo>
                    <a:lnTo>
                      <a:pt x="5071" y="328"/>
                    </a:lnTo>
                    <a:close/>
                    <a:moveTo>
                      <a:pt x="9845" y="1753"/>
                    </a:moveTo>
                    <a:lnTo>
                      <a:pt x="8327" y="1753"/>
                    </a:lnTo>
                    <a:cubicBezTo>
                      <a:pt x="8244" y="1753"/>
                      <a:pt x="8178" y="1820"/>
                      <a:pt x="8178" y="1902"/>
                    </a:cubicBezTo>
                    <a:cubicBezTo>
                      <a:pt x="8178" y="1984"/>
                      <a:pt x="8244" y="2051"/>
                      <a:pt x="8327" y="2051"/>
                    </a:cubicBezTo>
                    <a:lnTo>
                      <a:pt x="9369" y="2051"/>
                    </a:lnTo>
                    <a:lnTo>
                      <a:pt x="9369" y="8105"/>
                    </a:lnTo>
                    <a:lnTo>
                      <a:pt x="774" y="8105"/>
                    </a:lnTo>
                    <a:lnTo>
                      <a:pt x="774" y="2051"/>
                    </a:lnTo>
                    <a:lnTo>
                      <a:pt x="7639" y="2051"/>
                    </a:lnTo>
                    <a:cubicBezTo>
                      <a:pt x="7721" y="2051"/>
                      <a:pt x="7787" y="1984"/>
                      <a:pt x="7787" y="1902"/>
                    </a:cubicBezTo>
                    <a:cubicBezTo>
                      <a:pt x="7787" y="1820"/>
                      <a:pt x="7721" y="1753"/>
                      <a:pt x="7639" y="1753"/>
                    </a:cubicBezTo>
                    <a:lnTo>
                      <a:pt x="298" y="1753"/>
                    </a:lnTo>
                    <a:lnTo>
                      <a:pt x="298" y="1416"/>
                    </a:lnTo>
                    <a:lnTo>
                      <a:pt x="9845" y="1416"/>
                    </a:lnTo>
                    <a:lnTo>
                      <a:pt x="9845" y="1753"/>
                    </a:lnTo>
                    <a:lnTo>
                      <a:pt x="9845" y="1753"/>
                    </a:lnTo>
                    <a:close/>
                    <a:moveTo>
                      <a:pt x="9845" y="17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33"/>
              <p:cNvSpPr/>
              <p:nvPr/>
            </p:nvSpPr>
            <p:spPr>
              <a:xfrm>
                <a:off x="3263900" y="1752600"/>
                <a:ext cx="111122" cy="109536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9" extrusionOk="0">
                    <a:moveTo>
                      <a:pt x="1419" y="0"/>
                    </a:moveTo>
                    <a:cubicBezTo>
                      <a:pt x="636" y="0"/>
                      <a:pt x="0" y="637"/>
                      <a:pt x="0" y="1420"/>
                    </a:cubicBezTo>
                    <a:cubicBezTo>
                      <a:pt x="0" y="2202"/>
                      <a:pt x="636" y="2839"/>
                      <a:pt x="1419" y="2839"/>
                    </a:cubicBezTo>
                    <a:cubicBezTo>
                      <a:pt x="2201" y="2839"/>
                      <a:pt x="2838" y="2202"/>
                      <a:pt x="2838" y="1420"/>
                    </a:cubicBezTo>
                    <a:cubicBezTo>
                      <a:pt x="2838" y="637"/>
                      <a:pt x="2201" y="0"/>
                      <a:pt x="1419" y="0"/>
                    </a:cubicBezTo>
                    <a:close/>
                    <a:moveTo>
                      <a:pt x="1419" y="2541"/>
                    </a:moveTo>
                    <a:cubicBezTo>
                      <a:pt x="800" y="2541"/>
                      <a:pt x="297" y="2038"/>
                      <a:pt x="297" y="1420"/>
                    </a:cubicBezTo>
                    <a:cubicBezTo>
                      <a:pt x="297" y="801"/>
                      <a:pt x="800" y="298"/>
                      <a:pt x="1419" y="298"/>
                    </a:cubicBezTo>
                    <a:cubicBezTo>
                      <a:pt x="2037" y="298"/>
                      <a:pt x="2540" y="801"/>
                      <a:pt x="2540" y="1420"/>
                    </a:cubicBezTo>
                    <a:cubicBezTo>
                      <a:pt x="2540" y="2038"/>
                      <a:pt x="2037" y="2541"/>
                      <a:pt x="1419" y="2541"/>
                    </a:cubicBezTo>
                    <a:close/>
                    <a:moveTo>
                      <a:pt x="1419" y="254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33"/>
              <p:cNvSpPr/>
              <p:nvPr/>
            </p:nvSpPr>
            <p:spPr>
              <a:xfrm>
                <a:off x="3433763" y="1868488"/>
                <a:ext cx="93660" cy="93660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434" extrusionOk="0">
                    <a:moveTo>
                      <a:pt x="1766" y="1217"/>
                    </a:moveTo>
                    <a:lnTo>
                      <a:pt x="2286" y="696"/>
                    </a:lnTo>
                    <a:cubicBezTo>
                      <a:pt x="2437" y="545"/>
                      <a:pt x="2437" y="300"/>
                      <a:pt x="2286" y="149"/>
                    </a:cubicBezTo>
                    <a:cubicBezTo>
                      <a:pt x="2137" y="0"/>
                      <a:pt x="1888" y="0"/>
                      <a:pt x="1739" y="149"/>
                    </a:cubicBezTo>
                    <a:lnTo>
                      <a:pt x="1218" y="669"/>
                    </a:lnTo>
                    <a:lnTo>
                      <a:pt x="698" y="149"/>
                    </a:lnTo>
                    <a:cubicBezTo>
                      <a:pt x="549" y="0"/>
                      <a:pt x="300" y="0"/>
                      <a:pt x="151" y="149"/>
                    </a:cubicBezTo>
                    <a:cubicBezTo>
                      <a:pt x="0" y="300"/>
                      <a:pt x="0" y="545"/>
                      <a:pt x="151" y="696"/>
                    </a:cubicBezTo>
                    <a:lnTo>
                      <a:pt x="671" y="1217"/>
                    </a:lnTo>
                    <a:lnTo>
                      <a:pt x="151" y="1737"/>
                    </a:lnTo>
                    <a:cubicBezTo>
                      <a:pt x="0" y="1888"/>
                      <a:pt x="0" y="2133"/>
                      <a:pt x="151" y="2284"/>
                    </a:cubicBezTo>
                    <a:cubicBezTo>
                      <a:pt x="300" y="2434"/>
                      <a:pt x="549" y="2434"/>
                      <a:pt x="698" y="2284"/>
                    </a:cubicBezTo>
                    <a:lnTo>
                      <a:pt x="1218" y="1764"/>
                    </a:lnTo>
                    <a:lnTo>
                      <a:pt x="1739" y="2284"/>
                    </a:lnTo>
                    <a:cubicBezTo>
                      <a:pt x="1888" y="2434"/>
                      <a:pt x="2137" y="2434"/>
                      <a:pt x="2286" y="2284"/>
                    </a:cubicBezTo>
                    <a:cubicBezTo>
                      <a:pt x="2437" y="2133"/>
                      <a:pt x="2437" y="1888"/>
                      <a:pt x="2286" y="1737"/>
                    </a:cubicBezTo>
                    <a:lnTo>
                      <a:pt x="1766" y="1217"/>
                    </a:lnTo>
                    <a:close/>
                    <a:moveTo>
                      <a:pt x="2079" y="2070"/>
                    </a:moveTo>
                    <a:cubicBezTo>
                      <a:pt x="2046" y="2108"/>
                      <a:pt x="1985" y="2110"/>
                      <a:pt x="1949" y="2074"/>
                    </a:cubicBezTo>
                    <a:lnTo>
                      <a:pt x="1324" y="1448"/>
                    </a:lnTo>
                    <a:cubicBezTo>
                      <a:pt x="1266" y="1391"/>
                      <a:pt x="1171" y="1391"/>
                      <a:pt x="1113" y="1448"/>
                    </a:cubicBezTo>
                    <a:lnTo>
                      <a:pt x="488" y="2074"/>
                    </a:lnTo>
                    <a:cubicBezTo>
                      <a:pt x="452" y="2110"/>
                      <a:pt x="391" y="2108"/>
                      <a:pt x="357" y="2070"/>
                    </a:cubicBezTo>
                    <a:cubicBezTo>
                      <a:pt x="327" y="2035"/>
                      <a:pt x="328" y="1980"/>
                      <a:pt x="361" y="1947"/>
                    </a:cubicBezTo>
                    <a:lnTo>
                      <a:pt x="987" y="1322"/>
                    </a:lnTo>
                    <a:cubicBezTo>
                      <a:pt x="1045" y="1264"/>
                      <a:pt x="1045" y="1170"/>
                      <a:pt x="987" y="1111"/>
                    </a:cubicBezTo>
                    <a:lnTo>
                      <a:pt x="361" y="486"/>
                    </a:lnTo>
                    <a:cubicBezTo>
                      <a:pt x="328" y="453"/>
                      <a:pt x="327" y="399"/>
                      <a:pt x="357" y="364"/>
                    </a:cubicBezTo>
                    <a:cubicBezTo>
                      <a:pt x="391" y="325"/>
                      <a:pt x="452" y="324"/>
                      <a:pt x="488" y="359"/>
                    </a:cubicBezTo>
                    <a:lnTo>
                      <a:pt x="1113" y="985"/>
                    </a:lnTo>
                    <a:cubicBezTo>
                      <a:pt x="1171" y="1043"/>
                      <a:pt x="1266" y="1043"/>
                      <a:pt x="1324" y="985"/>
                    </a:cubicBezTo>
                    <a:lnTo>
                      <a:pt x="1949" y="359"/>
                    </a:lnTo>
                    <a:cubicBezTo>
                      <a:pt x="1985" y="324"/>
                      <a:pt x="2046" y="326"/>
                      <a:pt x="2079" y="364"/>
                    </a:cubicBezTo>
                    <a:cubicBezTo>
                      <a:pt x="2110" y="398"/>
                      <a:pt x="2108" y="453"/>
                      <a:pt x="2076" y="486"/>
                    </a:cubicBezTo>
                    <a:lnTo>
                      <a:pt x="1450" y="1111"/>
                    </a:lnTo>
                    <a:cubicBezTo>
                      <a:pt x="1392" y="1170"/>
                      <a:pt x="1392" y="1264"/>
                      <a:pt x="1450" y="1322"/>
                    </a:cubicBezTo>
                    <a:lnTo>
                      <a:pt x="2076" y="1947"/>
                    </a:lnTo>
                    <a:cubicBezTo>
                      <a:pt x="2108" y="1980"/>
                      <a:pt x="2110" y="2035"/>
                      <a:pt x="2079" y="2070"/>
                    </a:cubicBezTo>
                    <a:close/>
                    <a:moveTo>
                      <a:pt x="2079" y="20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33"/>
              <p:cNvSpPr/>
              <p:nvPr/>
            </p:nvSpPr>
            <p:spPr>
              <a:xfrm>
                <a:off x="3263900" y="1776413"/>
                <a:ext cx="266704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6825" h="3810" extrusionOk="0">
                    <a:moveTo>
                      <a:pt x="6752" y="686"/>
                    </a:moveTo>
                    <a:lnTo>
                      <a:pt x="5958" y="51"/>
                    </a:lnTo>
                    <a:cubicBezTo>
                      <a:pt x="5894" y="0"/>
                      <a:pt x="5800" y="10"/>
                      <a:pt x="5749" y="75"/>
                    </a:cubicBezTo>
                    <a:cubicBezTo>
                      <a:pt x="5697" y="139"/>
                      <a:pt x="5708" y="232"/>
                      <a:pt x="5772" y="284"/>
                    </a:cubicBezTo>
                    <a:lnTo>
                      <a:pt x="6235" y="654"/>
                    </a:lnTo>
                    <a:lnTo>
                      <a:pt x="4277" y="654"/>
                    </a:lnTo>
                    <a:cubicBezTo>
                      <a:pt x="3845" y="654"/>
                      <a:pt x="3493" y="1006"/>
                      <a:pt x="3493" y="1438"/>
                    </a:cubicBezTo>
                    <a:lnTo>
                      <a:pt x="3493" y="3026"/>
                    </a:lnTo>
                    <a:cubicBezTo>
                      <a:pt x="3493" y="3294"/>
                      <a:pt x="3275" y="3512"/>
                      <a:pt x="3007" y="3512"/>
                    </a:cubicBezTo>
                    <a:lnTo>
                      <a:pt x="148" y="3512"/>
                    </a:lnTo>
                    <a:cubicBezTo>
                      <a:pt x="66" y="3512"/>
                      <a:pt x="0" y="3579"/>
                      <a:pt x="0" y="3661"/>
                    </a:cubicBezTo>
                    <a:cubicBezTo>
                      <a:pt x="0" y="3743"/>
                      <a:pt x="66" y="3810"/>
                      <a:pt x="148" y="3810"/>
                    </a:cubicBezTo>
                    <a:lnTo>
                      <a:pt x="3007" y="3810"/>
                    </a:lnTo>
                    <a:cubicBezTo>
                      <a:pt x="3439" y="3810"/>
                      <a:pt x="3791" y="3458"/>
                      <a:pt x="3791" y="3026"/>
                    </a:cubicBezTo>
                    <a:lnTo>
                      <a:pt x="3791" y="1438"/>
                    </a:lnTo>
                    <a:cubicBezTo>
                      <a:pt x="3791" y="1170"/>
                      <a:pt x="4009" y="952"/>
                      <a:pt x="4277" y="952"/>
                    </a:cubicBezTo>
                    <a:lnTo>
                      <a:pt x="6235" y="952"/>
                    </a:lnTo>
                    <a:lnTo>
                      <a:pt x="5772" y="1322"/>
                    </a:lnTo>
                    <a:cubicBezTo>
                      <a:pt x="5714" y="1368"/>
                      <a:pt x="5699" y="1454"/>
                      <a:pt x="5739" y="1517"/>
                    </a:cubicBezTo>
                    <a:cubicBezTo>
                      <a:pt x="5786" y="1591"/>
                      <a:pt x="5889" y="1609"/>
                      <a:pt x="5958" y="1554"/>
                    </a:cubicBezTo>
                    <a:lnTo>
                      <a:pt x="6752" y="919"/>
                    </a:lnTo>
                    <a:cubicBezTo>
                      <a:pt x="6825" y="860"/>
                      <a:pt x="6825" y="745"/>
                      <a:pt x="6752" y="686"/>
                    </a:cubicBezTo>
                    <a:close/>
                    <a:moveTo>
                      <a:pt x="6752" y="686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005B0F-E607-807F-2DD2-492F3B727F12}"/>
              </a:ext>
            </a:extLst>
          </p:cNvPr>
          <p:cNvGrpSpPr/>
          <p:nvPr/>
        </p:nvGrpSpPr>
        <p:grpSpPr>
          <a:xfrm>
            <a:off x="3369198" y="657776"/>
            <a:ext cx="634500" cy="634500"/>
            <a:chOff x="924931" y="1993516"/>
            <a:chExt cx="634500" cy="634500"/>
          </a:xfrm>
        </p:grpSpPr>
        <p:sp>
          <p:nvSpPr>
            <p:cNvPr id="2264" name="Google Shape;2264;p33"/>
            <p:cNvSpPr/>
            <p:nvPr/>
          </p:nvSpPr>
          <p:spPr>
            <a:xfrm>
              <a:off x="924931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5" name="Google Shape;2275;p33"/>
            <p:cNvGrpSpPr/>
            <p:nvPr/>
          </p:nvGrpSpPr>
          <p:grpSpPr>
            <a:xfrm>
              <a:off x="1029231" y="2109917"/>
              <a:ext cx="393701" cy="395298"/>
              <a:chOff x="2409825" y="1658938"/>
              <a:chExt cx="393701" cy="395298"/>
            </a:xfrm>
          </p:grpSpPr>
          <p:sp>
            <p:nvSpPr>
              <p:cNvPr id="2276" name="Google Shape;2276;p33"/>
              <p:cNvSpPr/>
              <p:nvPr/>
            </p:nvSpPr>
            <p:spPr>
              <a:xfrm>
                <a:off x="2409825" y="1658938"/>
                <a:ext cx="393701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43" extrusionOk="0">
                    <a:moveTo>
                      <a:pt x="9994" y="0"/>
                    </a:moveTo>
                    <a:lnTo>
                      <a:pt x="4159" y="0"/>
                    </a:lnTo>
                    <a:cubicBezTo>
                      <a:pt x="4119" y="0"/>
                      <a:pt x="4081" y="16"/>
                      <a:pt x="4053" y="43"/>
                    </a:cubicBezTo>
                    <a:lnTo>
                      <a:pt x="2267" y="1830"/>
                    </a:lnTo>
                    <a:cubicBezTo>
                      <a:pt x="2239" y="1857"/>
                      <a:pt x="2223" y="1896"/>
                      <a:pt x="2223" y="1935"/>
                    </a:cubicBezTo>
                    <a:lnTo>
                      <a:pt x="2223" y="2699"/>
                    </a:lnTo>
                    <a:lnTo>
                      <a:pt x="149" y="2699"/>
                    </a:lnTo>
                    <a:cubicBezTo>
                      <a:pt x="67" y="2699"/>
                      <a:pt x="0" y="2766"/>
                      <a:pt x="0" y="2848"/>
                    </a:cubicBezTo>
                    <a:lnTo>
                      <a:pt x="0" y="4922"/>
                    </a:lnTo>
                    <a:cubicBezTo>
                      <a:pt x="0" y="5004"/>
                      <a:pt x="67" y="5071"/>
                      <a:pt x="149" y="5071"/>
                    </a:cubicBezTo>
                    <a:cubicBezTo>
                      <a:pt x="231" y="5071"/>
                      <a:pt x="298" y="5004"/>
                      <a:pt x="298" y="4922"/>
                    </a:cubicBezTo>
                    <a:lnTo>
                      <a:pt x="298" y="2997"/>
                    </a:lnTo>
                    <a:lnTo>
                      <a:pt x="4764" y="2997"/>
                    </a:lnTo>
                    <a:lnTo>
                      <a:pt x="4764" y="8733"/>
                    </a:lnTo>
                    <a:lnTo>
                      <a:pt x="298" y="8733"/>
                    </a:lnTo>
                    <a:lnTo>
                      <a:pt x="298" y="5637"/>
                    </a:lnTo>
                    <a:cubicBezTo>
                      <a:pt x="298" y="5555"/>
                      <a:pt x="231" y="5488"/>
                      <a:pt x="149" y="5488"/>
                    </a:cubicBezTo>
                    <a:cubicBezTo>
                      <a:pt x="67" y="5488"/>
                      <a:pt x="0" y="5555"/>
                      <a:pt x="0" y="5637"/>
                    </a:cubicBezTo>
                    <a:lnTo>
                      <a:pt x="0" y="8882"/>
                    </a:lnTo>
                    <a:cubicBezTo>
                      <a:pt x="0" y="8964"/>
                      <a:pt x="67" y="9031"/>
                      <a:pt x="149" y="9031"/>
                    </a:cubicBezTo>
                    <a:lnTo>
                      <a:pt x="2223" y="9031"/>
                    </a:lnTo>
                    <a:lnTo>
                      <a:pt x="2223" y="9994"/>
                    </a:lnTo>
                    <a:cubicBezTo>
                      <a:pt x="2223" y="10076"/>
                      <a:pt x="2290" y="10143"/>
                      <a:pt x="2372" y="10143"/>
                    </a:cubicBezTo>
                    <a:lnTo>
                      <a:pt x="9994" y="10143"/>
                    </a:lnTo>
                    <a:cubicBezTo>
                      <a:pt x="10076" y="10143"/>
                      <a:pt x="10143" y="10076"/>
                      <a:pt x="10143" y="9994"/>
                    </a:cubicBezTo>
                    <a:lnTo>
                      <a:pt x="10143" y="148"/>
                    </a:lnTo>
                    <a:cubicBezTo>
                      <a:pt x="10143" y="66"/>
                      <a:pt x="10076" y="0"/>
                      <a:pt x="9994" y="0"/>
                    </a:cubicBezTo>
                    <a:close/>
                    <a:moveTo>
                      <a:pt x="4010" y="508"/>
                    </a:moveTo>
                    <a:lnTo>
                      <a:pt x="4010" y="1786"/>
                    </a:lnTo>
                    <a:lnTo>
                      <a:pt x="2731" y="1786"/>
                    </a:lnTo>
                    <a:lnTo>
                      <a:pt x="4010" y="508"/>
                    </a:lnTo>
                    <a:close/>
                    <a:moveTo>
                      <a:pt x="9845" y="9845"/>
                    </a:moveTo>
                    <a:lnTo>
                      <a:pt x="2521" y="9845"/>
                    </a:lnTo>
                    <a:lnTo>
                      <a:pt x="2521" y="9031"/>
                    </a:lnTo>
                    <a:lnTo>
                      <a:pt x="4913" y="9031"/>
                    </a:lnTo>
                    <a:cubicBezTo>
                      <a:pt x="4995" y="9031"/>
                      <a:pt x="5062" y="8964"/>
                      <a:pt x="5062" y="8882"/>
                    </a:cubicBezTo>
                    <a:lnTo>
                      <a:pt x="5062" y="2848"/>
                    </a:lnTo>
                    <a:cubicBezTo>
                      <a:pt x="5062" y="2766"/>
                      <a:pt x="4995" y="2699"/>
                      <a:pt x="4913" y="2699"/>
                    </a:cubicBezTo>
                    <a:lnTo>
                      <a:pt x="2521" y="2699"/>
                    </a:lnTo>
                    <a:lnTo>
                      <a:pt x="2521" y="2084"/>
                    </a:lnTo>
                    <a:lnTo>
                      <a:pt x="4159" y="2084"/>
                    </a:lnTo>
                    <a:cubicBezTo>
                      <a:pt x="4241" y="2084"/>
                      <a:pt x="4307" y="2017"/>
                      <a:pt x="4307" y="1935"/>
                    </a:cubicBezTo>
                    <a:lnTo>
                      <a:pt x="4307" y="297"/>
                    </a:lnTo>
                    <a:lnTo>
                      <a:pt x="9845" y="297"/>
                    </a:lnTo>
                    <a:lnTo>
                      <a:pt x="9845" y="9845"/>
                    </a:lnTo>
                    <a:close/>
                    <a:moveTo>
                      <a:pt x="9845" y="9845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33"/>
              <p:cNvSpPr/>
              <p:nvPr/>
            </p:nvSpPr>
            <p:spPr>
              <a:xfrm>
                <a:off x="2655888" y="1701800"/>
                <a:ext cx="104775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5379" extrusionOk="0">
                    <a:moveTo>
                      <a:pt x="2292" y="2362"/>
                    </a:moveTo>
                    <a:cubicBezTo>
                      <a:pt x="2506" y="2362"/>
                      <a:pt x="2680" y="2189"/>
                      <a:pt x="2680" y="1975"/>
                    </a:cubicBezTo>
                    <a:lnTo>
                      <a:pt x="2680" y="1737"/>
                    </a:lnTo>
                    <a:cubicBezTo>
                      <a:pt x="2680" y="1180"/>
                      <a:pt x="2264" y="718"/>
                      <a:pt x="1727" y="645"/>
                    </a:cubicBezTo>
                    <a:lnTo>
                      <a:pt x="1727" y="387"/>
                    </a:lnTo>
                    <a:cubicBezTo>
                      <a:pt x="1727" y="174"/>
                      <a:pt x="1553" y="0"/>
                      <a:pt x="1340" y="0"/>
                    </a:cubicBezTo>
                    <a:cubicBezTo>
                      <a:pt x="1126" y="0"/>
                      <a:pt x="953" y="174"/>
                      <a:pt x="953" y="387"/>
                    </a:cubicBezTo>
                    <a:lnTo>
                      <a:pt x="953" y="665"/>
                    </a:lnTo>
                    <a:cubicBezTo>
                      <a:pt x="401" y="788"/>
                      <a:pt x="0" y="1279"/>
                      <a:pt x="0" y="1856"/>
                    </a:cubicBezTo>
                    <a:cubicBezTo>
                      <a:pt x="0" y="2529"/>
                      <a:pt x="547" y="3077"/>
                      <a:pt x="1221" y="3077"/>
                    </a:cubicBezTo>
                    <a:lnTo>
                      <a:pt x="1459" y="3077"/>
                    </a:lnTo>
                    <a:cubicBezTo>
                      <a:pt x="1705" y="3077"/>
                      <a:pt x="1905" y="3277"/>
                      <a:pt x="1905" y="3523"/>
                    </a:cubicBezTo>
                    <a:cubicBezTo>
                      <a:pt x="1905" y="3770"/>
                      <a:pt x="1705" y="3970"/>
                      <a:pt x="1459" y="3970"/>
                    </a:cubicBezTo>
                    <a:lnTo>
                      <a:pt x="1102" y="3970"/>
                    </a:lnTo>
                    <a:cubicBezTo>
                      <a:pt x="921" y="3970"/>
                      <a:pt x="774" y="3823"/>
                      <a:pt x="774" y="3642"/>
                    </a:cubicBezTo>
                    <a:cubicBezTo>
                      <a:pt x="774" y="3429"/>
                      <a:pt x="600" y="3255"/>
                      <a:pt x="387" y="3255"/>
                    </a:cubicBezTo>
                    <a:cubicBezTo>
                      <a:pt x="173" y="3255"/>
                      <a:pt x="0" y="3429"/>
                      <a:pt x="0" y="3642"/>
                    </a:cubicBezTo>
                    <a:cubicBezTo>
                      <a:pt x="0" y="4200"/>
                      <a:pt x="415" y="4661"/>
                      <a:pt x="953" y="4734"/>
                    </a:cubicBezTo>
                    <a:lnTo>
                      <a:pt x="953" y="4992"/>
                    </a:lnTo>
                    <a:cubicBezTo>
                      <a:pt x="953" y="5206"/>
                      <a:pt x="1126" y="5379"/>
                      <a:pt x="1340" y="5379"/>
                    </a:cubicBezTo>
                    <a:cubicBezTo>
                      <a:pt x="1553" y="5379"/>
                      <a:pt x="1727" y="5206"/>
                      <a:pt x="1727" y="4992"/>
                    </a:cubicBezTo>
                    <a:lnTo>
                      <a:pt x="1727" y="4714"/>
                    </a:lnTo>
                    <a:cubicBezTo>
                      <a:pt x="2278" y="4591"/>
                      <a:pt x="2679" y="4101"/>
                      <a:pt x="2679" y="3523"/>
                    </a:cubicBezTo>
                    <a:cubicBezTo>
                      <a:pt x="2679" y="2850"/>
                      <a:pt x="2132" y="2303"/>
                      <a:pt x="1459" y="2303"/>
                    </a:cubicBezTo>
                    <a:lnTo>
                      <a:pt x="1221" y="2303"/>
                    </a:lnTo>
                    <a:cubicBezTo>
                      <a:pt x="974" y="2303"/>
                      <a:pt x="774" y="2102"/>
                      <a:pt x="774" y="1856"/>
                    </a:cubicBezTo>
                    <a:cubicBezTo>
                      <a:pt x="774" y="1610"/>
                      <a:pt x="974" y="1410"/>
                      <a:pt x="1221" y="1410"/>
                    </a:cubicBezTo>
                    <a:lnTo>
                      <a:pt x="1578" y="1410"/>
                    </a:lnTo>
                    <a:cubicBezTo>
                      <a:pt x="1759" y="1410"/>
                      <a:pt x="1905" y="1556"/>
                      <a:pt x="1905" y="1737"/>
                    </a:cubicBezTo>
                    <a:lnTo>
                      <a:pt x="1905" y="1975"/>
                    </a:lnTo>
                    <a:cubicBezTo>
                      <a:pt x="1905" y="2189"/>
                      <a:pt x="2079" y="2362"/>
                      <a:pt x="2292" y="2362"/>
                    </a:cubicBezTo>
                    <a:close/>
                    <a:moveTo>
                      <a:pt x="1578" y="1112"/>
                    </a:moveTo>
                    <a:lnTo>
                      <a:pt x="1221" y="1112"/>
                    </a:lnTo>
                    <a:cubicBezTo>
                      <a:pt x="810" y="1112"/>
                      <a:pt x="476" y="1446"/>
                      <a:pt x="476" y="1856"/>
                    </a:cubicBezTo>
                    <a:cubicBezTo>
                      <a:pt x="476" y="2267"/>
                      <a:pt x="810" y="2600"/>
                      <a:pt x="1221" y="2600"/>
                    </a:cubicBezTo>
                    <a:lnTo>
                      <a:pt x="1459" y="2600"/>
                    </a:lnTo>
                    <a:cubicBezTo>
                      <a:pt x="1968" y="2600"/>
                      <a:pt x="2382" y="3014"/>
                      <a:pt x="2382" y="3523"/>
                    </a:cubicBezTo>
                    <a:cubicBezTo>
                      <a:pt x="2382" y="3994"/>
                      <a:pt x="2029" y="4389"/>
                      <a:pt x="1561" y="4441"/>
                    </a:cubicBezTo>
                    <a:cubicBezTo>
                      <a:pt x="1486" y="4449"/>
                      <a:pt x="1429" y="4513"/>
                      <a:pt x="1429" y="4589"/>
                    </a:cubicBezTo>
                    <a:lnTo>
                      <a:pt x="1429" y="4992"/>
                    </a:lnTo>
                    <a:cubicBezTo>
                      <a:pt x="1429" y="5041"/>
                      <a:pt x="1389" y="5082"/>
                      <a:pt x="1340" y="5082"/>
                    </a:cubicBezTo>
                    <a:cubicBezTo>
                      <a:pt x="1290" y="5082"/>
                      <a:pt x="1250" y="5042"/>
                      <a:pt x="1250" y="4992"/>
                    </a:cubicBezTo>
                    <a:lnTo>
                      <a:pt x="1250" y="4595"/>
                    </a:lnTo>
                    <a:cubicBezTo>
                      <a:pt x="1250" y="4513"/>
                      <a:pt x="1184" y="4446"/>
                      <a:pt x="1101" y="4446"/>
                    </a:cubicBezTo>
                    <a:cubicBezTo>
                      <a:pt x="658" y="4446"/>
                      <a:pt x="298" y="4086"/>
                      <a:pt x="298" y="3642"/>
                    </a:cubicBezTo>
                    <a:cubicBezTo>
                      <a:pt x="298" y="3593"/>
                      <a:pt x="338" y="3553"/>
                      <a:pt x="387" y="3553"/>
                    </a:cubicBezTo>
                    <a:cubicBezTo>
                      <a:pt x="436" y="3553"/>
                      <a:pt x="476" y="3593"/>
                      <a:pt x="476" y="3642"/>
                    </a:cubicBezTo>
                    <a:cubicBezTo>
                      <a:pt x="476" y="3987"/>
                      <a:pt x="757" y="4268"/>
                      <a:pt x="1102" y="4268"/>
                    </a:cubicBezTo>
                    <a:lnTo>
                      <a:pt x="1459" y="4268"/>
                    </a:lnTo>
                    <a:cubicBezTo>
                      <a:pt x="1869" y="4268"/>
                      <a:pt x="2203" y="3934"/>
                      <a:pt x="2203" y="3523"/>
                    </a:cubicBezTo>
                    <a:cubicBezTo>
                      <a:pt x="2203" y="3113"/>
                      <a:pt x="1869" y="2779"/>
                      <a:pt x="1459" y="2779"/>
                    </a:cubicBezTo>
                    <a:lnTo>
                      <a:pt x="1221" y="2779"/>
                    </a:lnTo>
                    <a:cubicBezTo>
                      <a:pt x="712" y="2779"/>
                      <a:pt x="298" y="2365"/>
                      <a:pt x="298" y="1856"/>
                    </a:cubicBezTo>
                    <a:cubicBezTo>
                      <a:pt x="298" y="1385"/>
                      <a:pt x="650" y="991"/>
                      <a:pt x="1118" y="939"/>
                    </a:cubicBezTo>
                    <a:cubicBezTo>
                      <a:pt x="1193" y="931"/>
                      <a:pt x="1250" y="867"/>
                      <a:pt x="1250" y="791"/>
                    </a:cubicBezTo>
                    <a:lnTo>
                      <a:pt x="1250" y="387"/>
                    </a:lnTo>
                    <a:cubicBezTo>
                      <a:pt x="1250" y="338"/>
                      <a:pt x="1290" y="298"/>
                      <a:pt x="1340" y="298"/>
                    </a:cubicBezTo>
                    <a:cubicBezTo>
                      <a:pt x="1389" y="298"/>
                      <a:pt x="1429" y="338"/>
                      <a:pt x="1429" y="387"/>
                    </a:cubicBezTo>
                    <a:lnTo>
                      <a:pt x="1429" y="784"/>
                    </a:lnTo>
                    <a:cubicBezTo>
                      <a:pt x="1429" y="866"/>
                      <a:pt x="1496" y="933"/>
                      <a:pt x="1578" y="933"/>
                    </a:cubicBezTo>
                    <a:cubicBezTo>
                      <a:pt x="2021" y="933"/>
                      <a:pt x="2382" y="1294"/>
                      <a:pt x="2382" y="1737"/>
                    </a:cubicBezTo>
                    <a:lnTo>
                      <a:pt x="2382" y="1975"/>
                    </a:lnTo>
                    <a:cubicBezTo>
                      <a:pt x="2382" y="2024"/>
                      <a:pt x="2342" y="2064"/>
                      <a:pt x="2292" y="2064"/>
                    </a:cubicBezTo>
                    <a:cubicBezTo>
                      <a:pt x="2243" y="2064"/>
                      <a:pt x="2203" y="2024"/>
                      <a:pt x="2203" y="1975"/>
                    </a:cubicBezTo>
                    <a:lnTo>
                      <a:pt x="2203" y="1737"/>
                    </a:lnTo>
                    <a:cubicBezTo>
                      <a:pt x="2203" y="1392"/>
                      <a:pt x="1923" y="1112"/>
                      <a:pt x="1578" y="1112"/>
                    </a:cubicBezTo>
                    <a:close/>
                    <a:moveTo>
                      <a:pt x="1578" y="111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33"/>
              <p:cNvSpPr/>
              <p:nvPr/>
            </p:nvSpPr>
            <p:spPr>
              <a:xfrm>
                <a:off x="2632075" y="1936750"/>
                <a:ext cx="53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33"/>
              <p:cNvSpPr/>
              <p:nvPr/>
            </p:nvSpPr>
            <p:spPr>
              <a:xfrm>
                <a:off x="2698750" y="1936750"/>
                <a:ext cx="7461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6" y="231"/>
                      <a:pt x="1886" y="149"/>
                    </a:cubicBezTo>
                    <a:cubicBezTo>
                      <a:pt x="1886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33"/>
              <p:cNvSpPr/>
              <p:nvPr/>
            </p:nvSpPr>
            <p:spPr>
              <a:xfrm>
                <a:off x="2632075" y="1968500"/>
                <a:ext cx="36513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298" extrusionOk="0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33"/>
              <p:cNvSpPr/>
              <p:nvPr/>
            </p:nvSpPr>
            <p:spPr>
              <a:xfrm>
                <a:off x="2681288" y="1968500"/>
                <a:ext cx="92077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298" extrusionOk="0">
                    <a:moveTo>
                      <a:pt x="221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2213" y="298"/>
                    </a:lnTo>
                    <a:cubicBezTo>
                      <a:pt x="2295" y="298"/>
                      <a:pt x="2362" y="231"/>
                      <a:pt x="2362" y="149"/>
                    </a:cubicBezTo>
                    <a:cubicBezTo>
                      <a:pt x="2362" y="67"/>
                      <a:pt x="2295" y="0"/>
                      <a:pt x="2213" y="0"/>
                    </a:cubicBezTo>
                    <a:close/>
                    <a:moveTo>
                      <a:pt x="2213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33"/>
              <p:cNvSpPr/>
              <p:nvPr/>
            </p:nvSpPr>
            <p:spPr>
              <a:xfrm>
                <a:off x="2632075" y="1998663"/>
                <a:ext cx="730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5" y="231"/>
                      <a:pt x="1885" y="149"/>
                    </a:cubicBezTo>
                    <a:cubicBezTo>
                      <a:pt x="1885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33"/>
              <p:cNvSpPr/>
              <p:nvPr/>
            </p:nvSpPr>
            <p:spPr>
              <a:xfrm>
                <a:off x="2717800" y="1998663"/>
                <a:ext cx="55564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33"/>
              <p:cNvSpPr/>
              <p:nvPr/>
            </p:nvSpPr>
            <p:spPr>
              <a:xfrm>
                <a:off x="2433638" y="1789113"/>
                <a:ext cx="147640" cy="49211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1251" extrusionOk="0">
                    <a:moveTo>
                      <a:pt x="36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102"/>
                    </a:lnTo>
                    <a:cubicBezTo>
                      <a:pt x="0" y="1184"/>
                      <a:pt x="67" y="1251"/>
                      <a:pt x="149" y="1251"/>
                    </a:cubicBezTo>
                    <a:lnTo>
                      <a:pt x="3643" y="1251"/>
                    </a:lnTo>
                    <a:cubicBezTo>
                      <a:pt x="3725" y="1251"/>
                      <a:pt x="3791" y="1184"/>
                      <a:pt x="3791" y="1102"/>
                    </a:cubicBezTo>
                    <a:lnTo>
                      <a:pt x="3791" y="149"/>
                    </a:lnTo>
                    <a:cubicBezTo>
                      <a:pt x="3791" y="67"/>
                      <a:pt x="3725" y="0"/>
                      <a:pt x="3643" y="0"/>
                    </a:cubicBezTo>
                    <a:close/>
                    <a:moveTo>
                      <a:pt x="3494" y="953"/>
                    </a:moveTo>
                    <a:lnTo>
                      <a:pt x="298" y="953"/>
                    </a:lnTo>
                    <a:lnTo>
                      <a:pt x="298" y="298"/>
                    </a:lnTo>
                    <a:lnTo>
                      <a:pt x="3494" y="298"/>
                    </a:lnTo>
                    <a:lnTo>
                      <a:pt x="3494" y="953"/>
                    </a:lnTo>
                    <a:close/>
                    <a:moveTo>
                      <a:pt x="3494" y="9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33"/>
              <p:cNvSpPr/>
              <p:nvPr/>
            </p:nvSpPr>
            <p:spPr>
              <a:xfrm>
                <a:off x="2520950" y="1851025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20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33"/>
              <p:cNvSpPr/>
              <p:nvPr/>
            </p:nvSpPr>
            <p:spPr>
              <a:xfrm>
                <a:off x="2433638" y="1851025"/>
                <a:ext cx="6191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19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33"/>
              <p:cNvSpPr/>
              <p:nvPr/>
            </p:nvSpPr>
            <p:spPr>
              <a:xfrm>
                <a:off x="2520950" y="1924050"/>
                <a:ext cx="603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20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33"/>
              <p:cNvSpPr/>
              <p:nvPr/>
            </p:nvSpPr>
            <p:spPr>
              <a:xfrm>
                <a:off x="2433638" y="192405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19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33"/>
              <p:cNvSpPr/>
              <p:nvPr/>
            </p:nvSpPr>
            <p:spPr>
              <a:xfrm>
                <a:off x="2452688" y="1868488"/>
                <a:ext cx="23813" cy="2539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15" extrusionOk="0">
                    <a:moveTo>
                      <a:pt x="466" y="158"/>
                    </a:moveTo>
                    <a:lnTo>
                      <a:pt x="456" y="158"/>
                    </a:lnTo>
                    <a:lnTo>
                      <a:pt x="456" y="149"/>
                    </a:lnTo>
                    <a:cubicBezTo>
                      <a:pt x="456" y="66"/>
                      <a:pt x="390" y="0"/>
                      <a:pt x="307" y="0"/>
                    </a:cubicBezTo>
                    <a:cubicBezTo>
                      <a:pt x="225" y="0"/>
                      <a:pt x="158" y="66"/>
                      <a:pt x="158" y="149"/>
                    </a:cubicBezTo>
                    <a:lnTo>
                      <a:pt x="158" y="158"/>
                    </a:lnTo>
                    <a:lnTo>
                      <a:pt x="148" y="158"/>
                    </a:lnTo>
                    <a:cubicBezTo>
                      <a:pt x="66" y="158"/>
                      <a:pt x="0" y="225"/>
                      <a:pt x="0" y="307"/>
                    </a:cubicBezTo>
                    <a:cubicBezTo>
                      <a:pt x="0" y="390"/>
                      <a:pt x="66" y="456"/>
                      <a:pt x="148" y="456"/>
                    </a:cubicBezTo>
                    <a:lnTo>
                      <a:pt x="158" y="456"/>
                    </a:lnTo>
                    <a:lnTo>
                      <a:pt x="158" y="466"/>
                    </a:lnTo>
                    <a:cubicBezTo>
                      <a:pt x="158" y="548"/>
                      <a:pt x="225" y="615"/>
                      <a:pt x="307" y="615"/>
                    </a:cubicBezTo>
                    <a:cubicBezTo>
                      <a:pt x="390" y="615"/>
                      <a:pt x="456" y="548"/>
                      <a:pt x="456" y="466"/>
                    </a:cubicBezTo>
                    <a:lnTo>
                      <a:pt x="456" y="456"/>
                    </a:lnTo>
                    <a:lnTo>
                      <a:pt x="466" y="456"/>
                    </a:lnTo>
                    <a:cubicBezTo>
                      <a:pt x="548" y="456"/>
                      <a:pt x="615" y="389"/>
                      <a:pt x="615" y="307"/>
                    </a:cubicBezTo>
                    <a:cubicBezTo>
                      <a:pt x="615" y="225"/>
                      <a:pt x="548" y="158"/>
                      <a:pt x="466" y="158"/>
                    </a:cubicBezTo>
                    <a:close/>
                    <a:moveTo>
                      <a:pt x="466" y="1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33"/>
              <p:cNvSpPr/>
              <p:nvPr/>
            </p:nvSpPr>
            <p:spPr>
              <a:xfrm>
                <a:off x="2538413" y="1874838"/>
                <a:ext cx="2381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98" extrusionOk="0">
                    <a:moveTo>
                      <a:pt x="466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2"/>
                      <a:pt x="66" y="298"/>
                      <a:pt x="149" y="298"/>
                    </a:cubicBezTo>
                    <a:lnTo>
                      <a:pt x="466" y="298"/>
                    </a:lnTo>
                    <a:cubicBezTo>
                      <a:pt x="548" y="298"/>
                      <a:pt x="615" y="231"/>
                      <a:pt x="615" y="149"/>
                    </a:cubicBezTo>
                    <a:cubicBezTo>
                      <a:pt x="615" y="67"/>
                      <a:pt x="548" y="0"/>
                      <a:pt x="466" y="0"/>
                    </a:cubicBezTo>
                    <a:close/>
                    <a:moveTo>
                      <a:pt x="466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33"/>
              <p:cNvSpPr/>
              <p:nvPr/>
            </p:nvSpPr>
            <p:spPr>
              <a:xfrm>
                <a:off x="2452688" y="1943100"/>
                <a:ext cx="23813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29" extrusionOk="0">
                    <a:moveTo>
                      <a:pt x="533" y="322"/>
                    </a:moveTo>
                    <a:lnTo>
                      <a:pt x="586" y="268"/>
                    </a:lnTo>
                    <a:cubicBezTo>
                      <a:pt x="645" y="210"/>
                      <a:pt x="645" y="116"/>
                      <a:pt x="586" y="58"/>
                    </a:cubicBezTo>
                    <a:cubicBezTo>
                      <a:pt x="528" y="0"/>
                      <a:pt x="434" y="0"/>
                      <a:pt x="376" y="58"/>
                    </a:cubicBezTo>
                    <a:lnTo>
                      <a:pt x="322" y="111"/>
                    </a:lnTo>
                    <a:lnTo>
                      <a:pt x="269" y="58"/>
                    </a:lnTo>
                    <a:cubicBezTo>
                      <a:pt x="211" y="0"/>
                      <a:pt x="116" y="0"/>
                      <a:pt x="58" y="58"/>
                    </a:cubicBezTo>
                    <a:cubicBezTo>
                      <a:pt x="0" y="116"/>
                      <a:pt x="0" y="210"/>
                      <a:pt x="58" y="268"/>
                    </a:cubicBezTo>
                    <a:lnTo>
                      <a:pt x="112" y="322"/>
                    </a:lnTo>
                    <a:lnTo>
                      <a:pt x="58" y="375"/>
                    </a:lnTo>
                    <a:cubicBezTo>
                      <a:pt x="0" y="433"/>
                      <a:pt x="0" y="528"/>
                      <a:pt x="58" y="586"/>
                    </a:cubicBezTo>
                    <a:cubicBezTo>
                      <a:pt x="87" y="615"/>
                      <a:pt x="125" y="629"/>
                      <a:pt x="163" y="629"/>
                    </a:cubicBezTo>
                    <a:cubicBezTo>
                      <a:pt x="202" y="629"/>
                      <a:pt x="240" y="615"/>
                      <a:pt x="269" y="586"/>
                    </a:cubicBezTo>
                    <a:lnTo>
                      <a:pt x="322" y="532"/>
                    </a:lnTo>
                    <a:lnTo>
                      <a:pt x="376" y="586"/>
                    </a:lnTo>
                    <a:cubicBezTo>
                      <a:pt x="405" y="615"/>
                      <a:pt x="443" y="629"/>
                      <a:pt x="481" y="629"/>
                    </a:cubicBezTo>
                    <a:cubicBezTo>
                      <a:pt x="519" y="629"/>
                      <a:pt x="557" y="615"/>
                      <a:pt x="586" y="586"/>
                    </a:cubicBezTo>
                    <a:cubicBezTo>
                      <a:pt x="644" y="528"/>
                      <a:pt x="644" y="433"/>
                      <a:pt x="586" y="375"/>
                    </a:cubicBezTo>
                    <a:lnTo>
                      <a:pt x="533" y="322"/>
                    </a:lnTo>
                    <a:close/>
                    <a:moveTo>
                      <a:pt x="533" y="32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33"/>
              <p:cNvSpPr/>
              <p:nvPr/>
            </p:nvSpPr>
            <p:spPr>
              <a:xfrm>
                <a:off x="2536825" y="1943100"/>
                <a:ext cx="2698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29" extrusionOk="0">
                    <a:moveTo>
                      <a:pt x="619" y="58"/>
                    </a:moveTo>
                    <a:cubicBezTo>
                      <a:pt x="561" y="0"/>
                      <a:pt x="467" y="0"/>
                      <a:pt x="409" y="58"/>
                    </a:cubicBezTo>
                    <a:lnTo>
                      <a:pt x="91" y="375"/>
                    </a:lnTo>
                    <a:cubicBezTo>
                      <a:pt x="0" y="467"/>
                      <a:pt x="66" y="629"/>
                      <a:pt x="197" y="629"/>
                    </a:cubicBezTo>
                    <a:cubicBezTo>
                      <a:pt x="235" y="629"/>
                      <a:pt x="273" y="615"/>
                      <a:pt x="302" y="586"/>
                    </a:cubicBezTo>
                    <a:lnTo>
                      <a:pt x="619" y="268"/>
                    </a:lnTo>
                    <a:cubicBezTo>
                      <a:pt x="678" y="210"/>
                      <a:pt x="678" y="116"/>
                      <a:pt x="619" y="58"/>
                    </a:cubicBezTo>
                    <a:close/>
                    <a:moveTo>
                      <a:pt x="619" y="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D790E54-91C5-39AD-B8E7-63583A235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86" y="1874048"/>
            <a:ext cx="2646556" cy="1017042"/>
          </a:xfrm>
          <a:prstGeom prst="rect">
            <a:avLst/>
          </a:prstGeom>
        </p:spPr>
      </p:pic>
      <p:sp>
        <p:nvSpPr>
          <p:cNvPr id="15" name="Google Shape;2260;p33">
            <a:extLst>
              <a:ext uri="{FF2B5EF4-FFF2-40B4-BE49-F238E27FC236}">
                <a16:creationId xmlns:a16="http://schemas.microsoft.com/office/drawing/2014/main" id="{97F2DBB9-61BB-87DC-8D81-63FFFC9AFE00}"/>
              </a:ext>
            </a:extLst>
          </p:cNvPr>
          <p:cNvSpPr txBox="1">
            <a:spLocks/>
          </p:cNvSpPr>
          <p:nvPr/>
        </p:nvSpPr>
        <p:spPr>
          <a:xfrm>
            <a:off x="4124098" y="1103349"/>
            <a:ext cx="3243141" cy="69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analysis for entire segment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analysis for each segment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endParaRPr lang="en-US" sz="1200" b="0" dirty="0"/>
          </a:p>
        </p:txBody>
      </p:sp>
      <p:sp>
        <p:nvSpPr>
          <p:cNvPr id="17" name="Google Shape;2260;p33">
            <a:extLst>
              <a:ext uri="{FF2B5EF4-FFF2-40B4-BE49-F238E27FC236}">
                <a16:creationId xmlns:a16="http://schemas.microsoft.com/office/drawing/2014/main" id="{1B1F7884-8576-731D-8D40-A3CF715F2DF6}"/>
              </a:ext>
            </a:extLst>
          </p:cNvPr>
          <p:cNvSpPr txBox="1">
            <a:spLocks/>
          </p:cNvSpPr>
          <p:nvPr/>
        </p:nvSpPr>
        <p:spPr>
          <a:xfrm>
            <a:off x="4132046" y="2327078"/>
            <a:ext cx="3330758" cy="48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Segment customers into groups based on behavioral analysis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endParaRPr lang="en-US" sz="1200" b="0" dirty="0"/>
          </a:p>
        </p:txBody>
      </p:sp>
      <p:sp>
        <p:nvSpPr>
          <p:cNvPr id="21" name="Google Shape;2260;p33">
            <a:extLst>
              <a:ext uri="{FF2B5EF4-FFF2-40B4-BE49-F238E27FC236}">
                <a16:creationId xmlns:a16="http://schemas.microsoft.com/office/drawing/2014/main" id="{FF6D0619-B690-3B50-E912-9A0408820FC5}"/>
              </a:ext>
            </a:extLst>
          </p:cNvPr>
          <p:cNvSpPr txBox="1">
            <a:spLocks/>
          </p:cNvSpPr>
          <p:nvPr/>
        </p:nvSpPr>
        <p:spPr>
          <a:xfrm>
            <a:off x="4132046" y="3746661"/>
            <a:ext cx="3114589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Provide recommendations on the approach for each customer segment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>
          <a:extLst>
            <a:ext uri="{FF2B5EF4-FFF2-40B4-BE49-F238E27FC236}">
              <a16:creationId xmlns:a16="http://schemas.microsoft.com/office/drawing/2014/main" id="{0AEAE46F-CF8E-1AE0-894E-8D272A51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>
            <a:extLst>
              <a:ext uri="{FF2B5EF4-FFF2-40B4-BE49-F238E27FC236}">
                <a16:creationId xmlns:a16="http://schemas.microsoft.com/office/drawing/2014/main" id="{ABD3A4B8-AEA6-886A-B5FE-3EA21C0E770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3716" y="152776"/>
            <a:ext cx="6342918" cy="58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Customer behavior analysis(</a:t>
            </a:r>
            <a:r>
              <a:rPr lang="en-US" sz="1600" b="0" dirty="0"/>
              <a:t>analysis for entire segment</a:t>
            </a:r>
            <a:r>
              <a:rPr lang="en-US" sz="1600" dirty="0"/>
              <a:t>)</a:t>
            </a:r>
            <a:endParaRPr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D87DFB-5387-7A1F-6F6E-162CE4797E99}"/>
              </a:ext>
            </a:extLst>
          </p:cNvPr>
          <p:cNvGrpSpPr/>
          <p:nvPr/>
        </p:nvGrpSpPr>
        <p:grpSpPr>
          <a:xfrm>
            <a:off x="172515" y="74939"/>
            <a:ext cx="634500" cy="634500"/>
            <a:chOff x="924931" y="1993516"/>
            <a:chExt cx="634500" cy="634500"/>
          </a:xfrm>
        </p:grpSpPr>
        <p:sp>
          <p:nvSpPr>
            <p:cNvPr id="2264" name="Google Shape;2264;p33">
              <a:extLst>
                <a:ext uri="{FF2B5EF4-FFF2-40B4-BE49-F238E27FC236}">
                  <a16:creationId xmlns:a16="http://schemas.microsoft.com/office/drawing/2014/main" id="{758F1D6C-F426-7A85-BA12-4B48E840619C}"/>
                </a:ext>
              </a:extLst>
            </p:cNvPr>
            <p:cNvSpPr/>
            <p:nvPr/>
          </p:nvSpPr>
          <p:spPr>
            <a:xfrm>
              <a:off x="924931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5" name="Google Shape;2275;p33">
              <a:extLst>
                <a:ext uri="{FF2B5EF4-FFF2-40B4-BE49-F238E27FC236}">
                  <a16:creationId xmlns:a16="http://schemas.microsoft.com/office/drawing/2014/main" id="{D5C90199-7072-0C9C-74CF-4A65A6EA80C3}"/>
                </a:ext>
              </a:extLst>
            </p:cNvPr>
            <p:cNvGrpSpPr/>
            <p:nvPr/>
          </p:nvGrpSpPr>
          <p:grpSpPr>
            <a:xfrm>
              <a:off x="1029231" y="2109917"/>
              <a:ext cx="393701" cy="395298"/>
              <a:chOff x="2409825" y="1658938"/>
              <a:chExt cx="393701" cy="395298"/>
            </a:xfrm>
          </p:grpSpPr>
          <p:sp>
            <p:nvSpPr>
              <p:cNvPr id="2276" name="Google Shape;2276;p33">
                <a:extLst>
                  <a:ext uri="{FF2B5EF4-FFF2-40B4-BE49-F238E27FC236}">
                    <a16:creationId xmlns:a16="http://schemas.microsoft.com/office/drawing/2014/main" id="{B91F1152-2778-BD6C-0055-F2B4C7ABA31A}"/>
                  </a:ext>
                </a:extLst>
              </p:cNvPr>
              <p:cNvSpPr/>
              <p:nvPr/>
            </p:nvSpPr>
            <p:spPr>
              <a:xfrm>
                <a:off x="2409825" y="1658938"/>
                <a:ext cx="393701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43" extrusionOk="0">
                    <a:moveTo>
                      <a:pt x="9994" y="0"/>
                    </a:moveTo>
                    <a:lnTo>
                      <a:pt x="4159" y="0"/>
                    </a:lnTo>
                    <a:cubicBezTo>
                      <a:pt x="4119" y="0"/>
                      <a:pt x="4081" y="16"/>
                      <a:pt x="4053" y="43"/>
                    </a:cubicBezTo>
                    <a:lnTo>
                      <a:pt x="2267" y="1830"/>
                    </a:lnTo>
                    <a:cubicBezTo>
                      <a:pt x="2239" y="1857"/>
                      <a:pt x="2223" y="1896"/>
                      <a:pt x="2223" y="1935"/>
                    </a:cubicBezTo>
                    <a:lnTo>
                      <a:pt x="2223" y="2699"/>
                    </a:lnTo>
                    <a:lnTo>
                      <a:pt x="149" y="2699"/>
                    </a:lnTo>
                    <a:cubicBezTo>
                      <a:pt x="67" y="2699"/>
                      <a:pt x="0" y="2766"/>
                      <a:pt x="0" y="2848"/>
                    </a:cubicBezTo>
                    <a:lnTo>
                      <a:pt x="0" y="4922"/>
                    </a:lnTo>
                    <a:cubicBezTo>
                      <a:pt x="0" y="5004"/>
                      <a:pt x="67" y="5071"/>
                      <a:pt x="149" y="5071"/>
                    </a:cubicBezTo>
                    <a:cubicBezTo>
                      <a:pt x="231" y="5071"/>
                      <a:pt x="298" y="5004"/>
                      <a:pt x="298" y="4922"/>
                    </a:cubicBezTo>
                    <a:lnTo>
                      <a:pt x="298" y="2997"/>
                    </a:lnTo>
                    <a:lnTo>
                      <a:pt x="4764" y="2997"/>
                    </a:lnTo>
                    <a:lnTo>
                      <a:pt x="4764" y="8733"/>
                    </a:lnTo>
                    <a:lnTo>
                      <a:pt x="298" y="8733"/>
                    </a:lnTo>
                    <a:lnTo>
                      <a:pt x="298" y="5637"/>
                    </a:lnTo>
                    <a:cubicBezTo>
                      <a:pt x="298" y="5555"/>
                      <a:pt x="231" y="5488"/>
                      <a:pt x="149" y="5488"/>
                    </a:cubicBezTo>
                    <a:cubicBezTo>
                      <a:pt x="67" y="5488"/>
                      <a:pt x="0" y="5555"/>
                      <a:pt x="0" y="5637"/>
                    </a:cubicBezTo>
                    <a:lnTo>
                      <a:pt x="0" y="8882"/>
                    </a:lnTo>
                    <a:cubicBezTo>
                      <a:pt x="0" y="8964"/>
                      <a:pt x="67" y="9031"/>
                      <a:pt x="149" y="9031"/>
                    </a:cubicBezTo>
                    <a:lnTo>
                      <a:pt x="2223" y="9031"/>
                    </a:lnTo>
                    <a:lnTo>
                      <a:pt x="2223" y="9994"/>
                    </a:lnTo>
                    <a:cubicBezTo>
                      <a:pt x="2223" y="10076"/>
                      <a:pt x="2290" y="10143"/>
                      <a:pt x="2372" y="10143"/>
                    </a:cubicBezTo>
                    <a:lnTo>
                      <a:pt x="9994" y="10143"/>
                    </a:lnTo>
                    <a:cubicBezTo>
                      <a:pt x="10076" y="10143"/>
                      <a:pt x="10143" y="10076"/>
                      <a:pt x="10143" y="9994"/>
                    </a:cubicBezTo>
                    <a:lnTo>
                      <a:pt x="10143" y="148"/>
                    </a:lnTo>
                    <a:cubicBezTo>
                      <a:pt x="10143" y="66"/>
                      <a:pt x="10076" y="0"/>
                      <a:pt x="9994" y="0"/>
                    </a:cubicBezTo>
                    <a:close/>
                    <a:moveTo>
                      <a:pt x="4010" y="508"/>
                    </a:moveTo>
                    <a:lnTo>
                      <a:pt x="4010" y="1786"/>
                    </a:lnTo>
                    <a:lnTo>
                      <a:pt x="2731" y="1786"/>
                    </a:lnTo>
                    <a:lnTo>
                      <a:pt x="4010" y="508"/>
                    </a:lnTo>
                    <a:close/>
                    <a:moveTo>
                      <a:pt x="9845" y="9845"/>
                    </a:moveTo>
                    <a:lnTo>
                      <a:pt x="2521" y="9845"/>
                    </a:lnTo>
                    <a:lnTo>
                      <a:pt x="2521" y="9031"/>
                    </a:lnTo>
                    <a:lnTo>
                      <a:pt x="4913" y="9031"/>
                    </a:lnTo>
                    <a:cubicBezTo>
                      <a:pt x="4995" y="9031"/>
                      <a:pt x="5062" y="8964"/>
                      <a:pt x="5062" y="8882"/>
                    </a:cubicBezTo>
                    <a:lnTo>
                      <a:pt x="5062" y="2848"/>
                    </a:lnTo>
                    <a:cubicBezTo>
                      <a:pt x="5062" y="2766"/>
                      <a:pt x="4995" y="2699"/>
                      <a:pt x="4913" y="2699"/>
                    </a:cubicBezTo>
                    <a:lnTo>
                      <a:pt x="2521" y="2699"/>
                    </a:lnTo>
                    <a:lnTo>
                      <a:pt x="2521" y="2084"/>
                    </a:lnTo>
                    <a:lnTo>
                      <a:pt x="4159" y="2084"/>
                    </a:lnTo>
                    <a:cubicBezTo>
                      <a:pt x="4241" y="2084"/>
                      <a:pt x="4307" y="2017"/>
                      <a:pt x="4307" y="1935"/>
                    </a:cubicBezTo>
                    <a:lnTo>
                      <a:pt x="4307" y="297"/>
                    </a:lnTo>
                    <a:lnTo>
                      <a:pt x="9845" y="297"/>
                    </a:lnTo>
                    <a:lnTo>
                      <a:pt x="9845" y="9845"/>
                    </a:lnTo>
                    <a:close/>
                    <a:moveTo>
                      <a:pt x="9845" y="9845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33">
                <a:extLst>
                  <a:ext uri="{FF2B5EF4-FFF2-40B4-BE49-F238E27FC236}">
                    <a16:creationId xmlns:a16="http://schemas.microsoft.com/office/drawing/2014/main" id="{38FD0C65-E0D5-4684-C494-DC3C88825A28}"/>
                  </a:ext>
                </a:extLst>
              </p:cNvPr>
              <p:cNvSpPr/>
              <p:nvPr/>
            </p:nvSpPr>
            <p:spPr>
              <a:xfrm>
                <a:off x="2655888" y="1701800"/>
                <a:ext cx="104775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5379" extrusionOk="0">
                    <a:moveTo>
                      <a:pt x="2292" y="2362"/>
                    </a:moveTo>
                    <a:cubicBezTo>
                      <a:pt x="2506" y="2362"/>
                      <a:pt x="2680" y="2189"/>
                      <a:pt x="2680" y="1975"/>
                    </a:cubicBezTo>
                    <a:lnTo>
                      <a:pt x="2680" y="1737"/>
                    </a:lnTo>
                    <a:cubicBezTo>
                      <a:pt x="2680" y="1180"/>
                      <a:pt x="2264" y="718"/>
                      <a:pt x="1727" y="645"/>
                    </a:cubicBezTo>
                    <a:lnTo>
                      <a:pt x="1727" y="387"/>
                    </a:lnTo>
                    <a:cubicBezTo>
                      <a:pt x="1727" y="174"/>
                      <a:pt x="1553" y="0"/>
                      <a:pt x="1340" y="0"/>
                    </a:cubicBezTo>
                    <a:cubicBezTo>
                      <a:pt x="1126" y="0"/>
                      <a:pt x="953" y="174"/>
                      <a:pt x="953" y="387"/>
                    </a:cubicBezTo>
                    <a:lnTo>
                      <a:pt x="953" y="665"/>
                    </a:lnTo>
                    <a:cubicBezTo>
                      <a:pt x="401" y="788"/>
                      <a:pt x="0" y="1279"/>
                      <a:pt x="0" y="1856"/>
                    </a:cubicBezTo>
                    <a:cubicBezTo>
                      <a:pt x="0" y="2529"/>
                      <a:pt x="547" y="3077"/>
                      <a:pt x="1221" y="3077"/>
                    </a:cubicBezTo>
                    <a:lnTo>
                      <a:pt x="1459" y="3077"/>
                    </a:lnTo>
                    <a:cubicBezTo>
                      <a:pt x="1705" y="3077"/>
                      <a:pt x="1905" y="3277"/>
                      <a:pt x="1905" y="3523"/>
                    </a:cubicBezTo>
                    <a:cubicBezTo>
                      <a:pt x="1905" y="3770"/>
                      <a:pt x="1705" y="3970"/>
                      <a:pt x="1459" y="3970"/>
                    </a:cubicBezTo>
                    <a:lnTo>
                      <a:pt x="1102" y="3970"/>
                    </a:lnTo>
                    <a:cubicBezTo>
                      <a:pt x="921" y="3970"/>
                      <a:pt x="774" y="3823"/>
                      <a:pt x="774" y="3642"/>
                    </a:cubicBezTo>
                    <a:cubicBezTo>
                      <a:pt x="774" y="3429"/>
                      <a:pt x="600" y="3255"/>
                      <a:pt x="387" y="3255"/>
                    </a:cubicBezTo>
                    <a:cubicBezTo>
                      <a:pt x="173" y="3255"/>
                      <a:pt x="0" y="3429"/>
                      <a:pt x="0" y="3642"/>
                    </a:cubicBezTo>
                    <a:cubicBezTo>
                      <a:pt x="0" y="4200"/>
                      <a:pt x="415" y="4661"/>
                      <a:pt x="953" y="4734"/>
                    </a:cubicBezTo>
                    <a:lnTo>
                      <a:pt x="953" y="4992"/>
                    </a:lnTo>
                    <a:cubicBezTo>
                      <a:pt x="953" y="5206"/>
                      <a:pt x="1126" y="5379"/>
                      <a:pt x="1340" y="5379"/>
                    </a:cubicBezTo>
                    <a:cubicBezTo>
                      <a:pt x="1553" y="5379"/>
                      <a:pt x="1727" y="5206"/>
                      <a:pt x="1727" y="4992"/>
                    </a:cubicBezTo>
                    <a:lnTo>
                      <a:pt x="1727" y="4714"/>
                    </a:lnTo>
                    <a:cubicBezTo>
                      <a:pt x="2278" y="4591"/>
                      <a:pt x="2679" y="4101"/>
                      <a:pt x="2679" y="3523"/>
                    </a:cubicBezTo>
                    <a:cubicBezTo>
                      <a:pt x="2679" y="2850"/>
                      <a:pt x="2132" y="2303"/>
                      <a:pt x="1459" y="2303"/>
                    </a:cubicBezTo>
                    <a:lnTo>
                      <a:pt x="1221" y="2303"/>
                    </a:lnTo>
                    <a:cubicBezTo>
                      <a:pt x="974" y="2303"/>
                      <a:pt x="774" y="2102"/>
                      <a:pt x="774" y="1856"/>
                    </a:cubicBezTo>
                    <a:cubicBezTo>
                      <a:pt x="774" y="1610"/>
                      <a:pt x="974" y="1410"/>
                      <a:pt x="1221" y="1410"/>
                    </a:cubicBezTo>
                    <a:lnTo>
                      <a:pt x="1578" y="1410"/>
                    </a:lnTo>
                    <a:cubicBezTo>
                      <a:pt x="1759" y="1410"/>
                      <a:pt x="1905" y="1556"/>
                      <a:pt x="1905" y="1737"/>
                    </a:cubicBezTo>
                    <a:lnTo>
                      <a:pt x="1905" y="1975"/>
                    </a:lnTo>
                    <a:cubicBezTo>
                      <a:pt x="1905" y="2189"/>
                      <a:pt x="2079" y="2362"/>
                      <a:pt x="2292" y="2362"/>
                    </a:cubicBezTo>
                    <a:close/>
                    <a:moveTo>
                      <a:pt x="1578" y="1112"/>
                    </a:moveTo>
                    <a:lnTo>
                      <a:pt x="1221" y="1112"/>
                    </a:lnTo>
                    <a:cubicBezTo>
                      <a:pt x="810" y="1112"/>
                      <a:pt x="476" y="1446"/>
                      <a:pt x="476" y="1856"/>
                    </a:cubicBezTo>
                    <a:cubicBezTo>
                      <a:pt x="476" y="2267"/>
                      <a:pt x="810" y="2600"/>
                      <a:pt x="1221" y="2600"/>
                    </a:cubicBezTo>
                    <a:lnTo>
                      <a:pt x="1459" y="2600"/>
                    </a:lnTo>
                    <a:cubicBezTo>
                      <a:pt x="1968" y="2600"/>
                      <a:pt x="2382" y="3014"/>
                      <a:pt x="2382" y="3523"/>
                    </a:cubicBezTo>
                    <a:cubicBezTo>
                      <a:pt x="2382" y="3994"/>
                      <a:pt x="2029" y="4389"/>
                      <a:pt x="1561" y="4441"/>
                    </a:cubicBezTo>
                    <a:cubicBezTo>
                      <a:pt x="1486" y="4449"/>
                      <a:pt x="1429" y="4513"/>
                      <a:pt x="1429" y="4589"/>
                    </a:cubicBezTo>
                    <a:lnTo>
                      <a:pt x="1429" y="4992"/>
                    </a:lnTo>
                    <a:cubicBezTo>
                      <a:pt x="1429" y="5041"/>
                      <a:pt x="1389" y="5082"/>
                      <a:pt x="1340" y="5082"/>
                    </a:cubicBezTo>
                    <a:cubicBezTo>
                      <a:pt x="1290" y="5082"/>
                      <a:pt x="1250" y="5042"/>
                      <a:pt x="1250" y="4992"/>
                    </a:cubicBezTo>
                    <a:lnTo>
                      <a:pt x="1250" y="4595"/>
                    </a:lnTo>
                    <a:cubicBezTo>
                      <a:pt x="1250" y="4513"/>
                      <a:pt x="1184" y="4446"/>
                      <a:pt x="1101" y="4446"/>
                    </a:cubicBezTo>
                    <a:cubicBezTo>
                      <a:pt x="658" y="4446"/>
                      <a:pt x="298" y="4086"/>
                      <a:pt x="298" y="3642"/>
                    </a:cubicBezTo>
                    <a:cubicBezTo>
                      <a:pt x="298" y="3593"/>
                      <a:pt x="338" y="3553"/>
                      <a:pt x="387" y="3553"/>
                    </a:cubicBezTo>
                    <a:cubicBezTo>
                      <a:pt x="436" y="3553"/>
                      <a:pt x="476" y="3593"/>
                      <a:pt x="476" y="3642"/>
                    </a:cubicBezTo>
                    <a:cubicBezTo>
                      <a:pt x="476" y="3987"/>
                      <a:pt x="757" y="4268"/>
                      <a:pt x="1102" y="4268"/>
                    </a:cubicBezTo>
                    <a:lnTo>
                      <a:pt x="1459" y="4268"/>
                    </a:lnTo>
                    <a:cubicBezTo>
                      <a:pt x="1869" y="4268"/>
                      <a:pt x="2203" y="3934"/>
                      <a:pt x="2203" y="3523"/>
                    </a:cubicBezTo>
                    <a:cubicBezTo>
                      <a:pt x="2203" y="3113"/>
                      <a:pt x="1869" y="2779"/>
                      <a:pt x="1459" y="2779"/>
                    </a:cubicBezTo>
                    <a:lnTo>
                      <a:pt x="1221" y="2779"/>
                    </a:lnTo>
                    <a:cubicBezTo>
                      <a:pt x="712" y="2779"/>
                      <a:pt x="298" y="2365"/>
                      <a:pt x="298" y="1856"/>
                    </a:cubicBezTo>
                    <a:cubicBezTo>
                      <a:pt x="298" y="1385"/>
                      <a:pt x="650" y="991"/>
                      <a:pt x="1118" y="939"/>
                    </a:cubicBezTo>
                    <a:cubicBezTo>
                      <a:pt x="1193" y="931"/>
                      <a:pt x="1250" y="867"/>
                      <a:pt x="1250" y="791"/>
                    </a:cubicBezTo>
                    <a:lnTo>
                      <a:pt x="1250" y="387"/>
                    </a:lnTo>
                    <a:cubicBezTo>
                      <a:pt x="1250" y="338"/>
                      <a:pt x="1290" y="298"/>
                      <a:pt x="1340" y="298"/>
                    </a:cubicBezTo>
                    <a:cubicBezTo>
                      <a:pt x="1389" y="298"/>
                      <a:pt x="1429" y="338"/>
                      <a:pt x="1429" y="387"/>
                    </a:cubicBezTo>
                    <a:lnTo>
                      <a:pt x="1429" y="784"/>
                    </a:lnTo>
                    <a:cubicBezTo>
                      <a:pt x="1429" y="866"/>
                      <a:pt x="1496" y="933"/>
                      <a:pt x="1578" y="933"/>
                    </a:cubicBezTo>
                    <a:cubicBezTo>
                      <a:pt x="2021" y="933"/>
                      <a:pt x="2382" y="1294"/>
                      <a:pt x="2382" y="1737"/>
                    </a:cubicBezTo>
                    <a:lnTo>
                      <a:pt x="2382" y="1975"/>
                    </a:lnTo>
                    <a:cubicBezTo>
                      <a:pt x="2382" y="2024"/>
                      <a:pt x="2342" y="2064"/>
                      <a:pt x="2292" y="2064"/>
                    </a:cubicBezTo>
                    <a:cubicBezTo>
                      <a:pt x="2243" y="2064"/>
                      <a:pt x="2203" y="2024"/>
                      <a:pt x="2203" y="1975"/>
                    </a:cubicBezTo>
                    <a:lnTo>
                      <a:pt x="2203" y="1737"/>
                    </a:lnTo>
                    <a:cubicBezTo>
                      <a:pt x="2203" y="1392"/>
                      <a:pt x="1923" y="1112"/>
                      <a:pt x="1578" y="1112"/>
                    </a:cubicBezTo>
                    <a:close/>
                    <a:moveTo>
                      <a:pt x="1578" y="111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33">
                <a:extLst>
                  <a:ext uri="{FF2B5EF4-FFF2-40B4-BE49-F238E27FC236}">
                    <a16:creationId xmlns:a16="http://schemas.microsoft.com/office/drawing/2014/main" id="{FCD2FA42-5F70-A25E-6CB5-71843213E639}"/>
                  </a:ext>
                </a:extLst>
              </p:cNvPr>
              <p:cNvSpPr/>
              <p:nvPr/>
            </p:nvSpPr>
            <p:spPr>
              <a:xfrm>
                <a:off x="2632075" y="1936750"/>
                <a:ext cx="53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33">
                <a:extLst>
                  <a:ext uri="{FF2B5EF4-FFF2-40B4-BE49-F238E27FC236}">
                    <a16:creationId xmlns:a16="http://schemas.microsoft.com/office/drawing/2014/main" id="{5B0C3503-E142-7F95-C421-CD0BB137D381}"/>
                  </a:ext>
                </a:extLst>
              </p:cNvPr>
              <p:cNvSpPr/>
              <p:nvPr/>
            </p:nvSpPr>
            <p:spPr>
              <a:xfrm>
                <a:off x="2698750" y="1936750"/>
                <a:ext cx="7461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6" y="231"/>
                      <a:pt x="1886" y="149"/>
                    </a:cubicBezTo>
                    <a:cubicBezTo>
                      <a:pt x="1886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33">
                <a:extLst>
                  <a:ext uri="{FF2B5EF4-FFF2-40B4-BE49-F238E27FC236}">
                    <a16:creationId xmlns:a16="http://schemas.microsoft.com/office/drawing/2014/main" id="{C1D8B87E-5CFD-79C6-4232-B1D7E191201E}"/>
                  </a:ext>
                </a:extLst>
              </p:cNvPr>
              <p:cNvSpPr/>
              <p:nvPr/>
            </p:nvSpPr>
            <p:spPr>
              <a:xfrm>
                <a:off x="2632075" y="1968500"/>
                <a:ext cx="36513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298" extrusionOk="0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33">
                <a:extLst>
                  <a:ext uri="{FF2B5EF4-FFF2-40B4-BE49-F238E27FC236}">
                    <a16:creationId xmlns:a16="http://schemas.microsoft.com/office/drawing/2014/main" id="{4B8D92F4-C388-0354-ABB8-FA1AC80F9196}"/>
                  </a:ext>
                </a:extLst>
              </p:cNvPr>
              <p:cNvSpPr/>
              <p:nvPr/>
            </p:nvSpPr>
            <p:spPr>
              <a:xfrm>
                <a:off x="2681288" y="1968500"/>
                <a:ext cx="92077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298" extrusionOk="0">
                    <a:moveTo>
                      <a:pt x="221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2213" y="298"/>
                    </a:lnTo>
                    <a:cubicBezTo>
                      <a:pt x="2295" y="298"/>
                      <a:pt x="2362" y="231"/>
                      <a:pt x="2362" y="149"/>
                    </a:cubicBezTo>
                    <a:cubicBezTo>
                      <a:pt x="2362" y="67"/>
                      <a:pt x="2295" y="0"/>
                      <a:pt x="2213" y="0"/>
                    </a:cubicBezTo>
                    <a:close/>
                    <a:moveTo>
                      <a:pt x="2213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33">
                <a:extLst>
                  <a:ext uri="{FF2B5EF4-FFF2-40B4-BE49-F238E27FC236}">
                    <a16:creationId xmlns:a16="http://schemas.microsoft.com/office/drawing/2014/main" id="{4208787E-095E-AE84-3F60-D73A60E74C88}"/>
                  </a:ext>
                </a:extLst>
              </p:cNvPr>
              <p:cNvSpPr/>
              <p:nvPr/>
            </p:nvSpPr>
            <p:spPr>
              <a:xfrm>
                <a:off x="2632075" y="1998663"/>
                <a:ext cx="730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5" y="231"/>
                      <a:pt x="1885" y="149"/>
                    </a:cubicBezTo>
                    <a:cubicBezTo>
                      <a:pt x="1885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33">
                <a:extLst>
                  <a:ext uri="{FF2B5EF4-FFF2-40B4-BE49-F238E27FC236}">
                    <a16:creationId xmlns:a16="http://schemas.microsoft.com/office/drawing/2014/main" id="{077AC17A-A804-EF9A-B710-1C085DEB42D7}"/>
                  </a:ext>
                </a:extLst>
              </p:cNvPr>
              <p:cNvSpPr/>
              <p:nvPr/>
            </p:nvSpPr>
            <p:spPr>
              <a:xfrm>
                <a:off x="2717800" y="1998663"/>
                <a:ext cx="55564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33">
                <a:extLst>
                  <a:ext uri="{FF2B5EF4-FFF2-40B4-BE49-F238E27FC236}">
                    <a16:creationId xmlns:a16="http://schemas.microsoft.com/office/drawing/2014/main" id="{97DD919C-2E05-D425-7BDC-C916D0A49F74}"/>
                  </a:ext>
                </a:extLst>
              </p:cNvPr>
              <p:cNvSpPr/>
              <p:nvPr/>
            </p:nvSpPr>
            <p:spPr>
              <a:xfrm>
                <a:off x="2433638" y="1789113"/>
                <a:ext cx="147640" cy="49211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1251" extrusionOk="0">
                    <a:moveTo>
                      <a:pt x="36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102"/>
                    </a:lnTo>
                    <a:cubicBezTo>
                      <a:pt x="0" y="1184"/>
                      <a:pt x="67" y="1251"/>
                      <a:pt x="149" y="1251"/>
                    </a:cubicBezTo>
                    <a:lnTo>
                      <a:pt x="3643" y="1251"/>
                    </a:lnTo>
                    <a:cubicBezTo>
                      <a:pt x="3725" y="1251"/>
                      <a:pt x="3791" y="1184"/>
                      <a:pt x="3791" y="1102"/>
                    </a:cubicBezTo>
                    <a:lnTo>
                      <a:pt x="3791" y="149"/>
                    </a:lnTo>
                    <a:cubicBezTo>
                      <a:pt x="3791" y="67"/>
                      <a:pt x="3725" y="0"/>
                      <a:pt x="3643" y="0"/>
                    </a:cubicBezTo>
                    <a:close/>
                    <a:moveTo>
                      <a:pt x="3494" y="953"/>
                    </a:moveTo>
                    <a:lnTo>
                      <a:pt x="298" y="953"/>
                    </a:lnTo>
                    <a:lnTo>
                      <a:pt x="298" y="298"/>
                    </a:lnTo>
                    <a:lnTo>
                      <a:pt x="3494" y="298"/>
                    </a:lnTo>
                    <a:lnTo>
                      <a:pt x="3494" y="953"/>
                    </a:lnTo>
                    <a:close/>
                    <a:moveTo>
                      <a:pt x="3494" y="9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33">
                <a:extLst>
                  <a:ext uri="{FF2B5EF4-FFF2-40B4-BE49-F238E27FC236}">
                    <a16:creationId xmlns:a16="http://schemas.microsoft.com/office/drawing/2014/main" id="{F7CF9A91-2A4B-42E1-9B94-E3C16545704A}"/>
                  </a:ext>
                </a:extLst>
              </p:cNvPr>
              <p:cNvSpPr/>
              <p:nvPr/>
            </p:nvSpPr>
            <p:spPr>
              <a:xfrm>
                <a:off x="2520950" y="1851025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20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33">
                <a:extLst>
                  <a:ext uri="{FF2B5EF4-FFF2-40B4-BE49-F238E27FC236}">
                    <a16:creationId xmlns:a16="http://schemas.microsoft.com/office/drawing/2014/main" id="{8A963B44-4DCF-C374-3562-24A4E948B95A}"/>
                  </a:ext>
                </a:extLst>
              </p:cNvPr>
              <p:cNvSpPr/>
              <p:nvPr/>
            </p:nvSpPr>
            <p:spPr>
              <a:xfrm>
                <a:off x="2433638" y="1851025"/>
                <a:ext cx="6191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19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33">
                <a:extLst>
                  <a:ext uri="{FF2B5EF4-FFF2-40B4-BE49-F238E27FC236}">
                    <a16:creationId xmlns:a16="http://schemas.microsoft.com/office/drawing/2014/main" id="{E44537B5-29D9-8A9E-699C-7A26C55AC471}"/>
                  </a:ext>
                </a:extLst>
              </p:cNvPr>
              <p:cNvSpPr/>
              <p:nvPr/>
            </p:nvSpPr>
            <p:spPr>
              <a:xfrm>
                <a:off x="2520950" y="1924050"/>
                <a:ext cx="603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20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33">
                <a:extLst>
                  <a:ext uri="{FF2B5EF4-FFF2-40B4-BE49-F238E27FC236}">
                    <a16:creationId xmlns:a16="http://schemas.microsoft.com/office/drawing/2014/main" id="{5DC1F6BB-0267-1442-616C-0BAB2501DFB7}"/>
                  </a:ext>
                </a:extLst>
              </p:cNvPr>
              <p:cNvSpPr/>
              <p:nvPr/>
            </p:nvSpPr>
            <p:spPr>
              <a:xfrm>
                <a:off x="2433638" y="192405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19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33">
                <a:extLst>
                  <a:ext uri="{FF2B5EF4-FFF2-40B4-BE49-F238E27FC236}">
                    <a16:creationId xmlns:a16="http://schemas.microsoft.com/office/drawing/2014/main" id="{568D338B-2C34-EDD5-FE3A-365E15B659BB}"/>
                  </a:ext>
                </a:extLst>
              </p:cNvPr>
              <p:cNvSpPr/>
              <p:nvPr/>
            </p:nvSpPr>
            <p:spPr>
              <a:xfrm>
                <a:off x="2452688" y="1868488"/>
                <a:ext cx="23813" cy="2539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15" extrusionOk="0">
                    <a:moveTo>
                      <a:pt x="466" y="158"/>
                    </a:moveTo>
                    <a:lnTo>
                      <a:pt x="456" y="158"/>
                    </a:lnTo>
                    <a:lnTo>
                      <a:pt x="456" y="149"/>
                    </a:lnTo>
                    <a:cubicBezTo>
                      <a:pt x="456" y="66"/>
                      <a:pt x="390" y="0"/>
                      <a:pt x="307" y="0"/>
                    </a:cubicBezTo>
                    <a:cubicBezTo>
                      <a:pt x="225" y="0"/>
                      <a:pt x="158" y="66"/>
                      <a:pt x="158" y="149"/>
                    </a:cubicBezTo>
                    <a:lnTo>
                      <a:pt x="158" y="158"/>
                    </a:lnTo>
                    <a:lnTo>
                      <a:pt x="148" y="158"/>
                    </a:lnTo>
                    <a:cubicBezTo>
                      <a:pt x="66" y="158"/>
                      <a:pt x="0" y="225"/>
                      <a:pt x="0" y="307"/>
                    </a:cubicBezTo>
                    <a:cubicBezTo>
                      <a:pt x="0" y="390"/>
                      <a:pt x="66" y="456"/>
                      <a:pt x="148" y="456"/>
                    </a:cubicBezTo>
                    <a:lnTo>
                      <a:pt x="158" y="456"/>
                    </a:lnTo>
                    <a:lnTo>
                      <a:pt x="158" y="466"/>
                    </a:lnTo>
                    <a:cubicBezTo>
                      <a:pt x="158" y="548"/>
                      <a:pt x="225" y="615"/>
                      <a:pt x="307" y="615"/>
                    </a:cubicBezTo>
                    <a:cubicBezTo>
                      <a:pt x="390" y="615"/>
                      <a:pt x="456" y="548"/>
                      <a:pt x="456" y="466"/>
                    </a:cubicBezTo>
                    <a:lnTo>
                      <a:pt x="456" y="456"/>
                    </a:lnTo>
                    <a:lnTo>
                      <a:pt x="466" y="456"/>
                    </a:lnTo>
                    <a:cubicBezTo>
                      <a:pt x="548" y="456"/>
                      <a:pt x="615" y="389"/>
                      <a:pt x="615" y="307"/>
                    </a:cubicBezTo>
                    <a:cubicBezTo>
                      <a:pt x="615" y="225"/>
                      <a:pt x="548" y="158"/>
                      <a:pt x="466" y="158"/>
                    </a:cubicBezTo>
                    <a:close/>
                    <a:moveTo>
                      <a:pt x="466" y="1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33">
                <a:extLst>
                  <a:ext uri="{FF2B5EF4-FFF2-40B4-BE49-F238E27FC236}">
                    <a16:creationId xmlns:a16="http://schemas.microsoft.com/office/drawing/2014/main" id="{6963148E-C2DE-E5DA-A94F-31F3D63759EA}"/>
                  </a:ext>
                </a:extLst>
              </p:cNvPr>
              <p:cNvSpPr/>
              <p:nvPr/>
            </p:nvSpPr>
            <p:spPr>
              <a:xfrm>
                <a:off x="2538413" y="1874838"/>
                <a:ext cx="2381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98" extrusionOk="0">
                    <a:moveTo>
                      <a:pt x="466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2"/>
                      <a:pt x="66" y="298"/>
                      <a:pt x="149" y="298"/>
                    </a:cubicBezTo>
                    <a:lnTo>
                      <a:pt x="466" y="298"/>
                    </a:lnTo>
                    <a:cubicBezTo>
                      <a:pt x="548" y="298"/>
                      <a:pt x="615" y="231"/>
                      <a:pt x="615" y="149"/>
                    </a:cubicBezTo>
                    <a:cubicBezTo>
                      <a:pt x="615" y="67"/>
                      <a:pt x="548" y="0"/>
                      <a:pt x="466" y="0"/>
                    </a:cubicBezTo>
                    <a:close/>
                    <a:moveTo>
                      <a:pt x="466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33">
                <a:extLst>
                  <a:ext uri="{FF2B5EF4-FFF2-40B4-BE49-F238E27FC236}">
                    <a16:creationId xmlns:a16="http://schemas.microsoft.com/office/drawing/2014/main" id="{F614D39A-F663-2846-CB06-F8FE7E3D27CE}"/>
                  </a:ext>
                </a:extLst>
              </p:cNvPr>
              <p:cNvSpPr/>
              <p:nvPr/>
            </p:nvSpPr>
            <p:spPr>
              <a:xfrm>
                <a:off x="2452688" y="1943100"/>
                <a:ext cx="23813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29" extrusionOk="0">
                    <a:moveTo>
                      <a:pt x="533" y="322"/>
                    </a:moveTo>
                    <a:lnTo>
                      <a:pt x="586" y="268"/>
                    </a:lnTo>
                    <a:cubicBezTo>
                      <a:pt x="645" y="210"/>
                      <a:pt x="645" y="116"/>
                      <a:pt x="586" y="58"/>
                    </a:cubicBezTo>
                    <a:cubicBezTo>
                      <a:pt x="528" y="0"/>
                      <a:pt x="434" y="0"/>
                      <a:pt x="376" y="58"/>
                    </a:cubicBezTo>
                    <a:lnTo>
                      <a:pt x="322" y="111"/>
                    </a:lnTo>
                    <a:lnTo>
                      <a:pt x="269" y="58"/>
                    </a:lnTo>
                    <a:cubicBezTo>
                      <a:pt x="211" y="0"/>
                      <a:pt x="116" y="0"/>
                      <a:pt x="58" y="58"/>
                    </a:cubicBezTo>
                    <a:cubicBezTo>
                      <a:pt x="0" y="116"/>
                      <a:pt x="0" y="210"/>
                      <a:pt x="58" y="268"/>
                    </a:cubicBezTo>
                    <a:lnTo>
                      <a:pt x="112" y="322"/>
                    </a:lnTo>
                    <a:lnTo>
                      <a:pt x="58" y="375"/>
                    </a:lnTo>
                    <a:cubicBezTo>
                      <a:pt x="0" y="433"/>
                      <a:pt x="0" y="528"/>
                      <a:pt x="58" y="586"/>
                    </a:cubicBezTo>
                    <a:cubicBezTo>
                      <a:pt x="87" y="615"/>
                      <a:pt x="125" y="629"/>
                      <a:pt x="163" y="629"/>
                    </a:cubicBezTo>
                    <a:cubicBezTo>
                      <a:pt x="202" y="629"/>
                      <a:pt x="240" y="615"/>
                      <a:pt x="269" y="586"/>
                    </a:cubicBezTo>
                    <a:lnTo>
                      <a:pt x="322" y="532"/>
                    </a:lnTo>
                    <a:lnTo>
                      <a:pt x="376" y="586"/>
                    </a:lnTo>
                    <a:cubicBezTo>
                      <a:pt x="405" y="615"/>
                      <a:pt x="443" y="629"/>
                      <a:pt x="481" y="629"/>
                    </a:cubicBezTo>
                    <a:cubicBezTo>
                      <a:pt x="519" y="629"/>
                      <a:pt x="557" y="615"/>
                      <a:pt x="586" y="586"/>
                    </a:cubicBezTo>
                    <a:cubicBezTo>
                      <a:pt x="644" y="528"/>
                      <a:pt x="644" y="433"/>
                      <a:pt x="586" y="375"/>
                    </a:cubicBezTo>
                    <a:lnTo>
                      <a:pt x="533" y="322"/>
                    </a:lnTo>
                    <a:close/>
                    <a:moveTo>
                      <a:pt x="533" y="32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33">
                <a:extLst>
                  <a:ext uri="{FF2B5EF4-FFF2-40B4-BE49-F238E27FC236}">
                    <a16:creationId xmlns:a16="http://schemas.microsoft.com/office/drawing/2014/main" id="{16675C6E-FEEC-CD71-60F7-5FDF68A1945E}"/>
                  </a:ext>
                </a:extLst>
              </p:cNvPr>
              <p:cNvSpPr/>
              <p:nvPr/>
            </p:nvSpPr>
            <p:spPr>
              <a:xfrm>
                <a:off x="2536825" y="1943100"/>
                <a:ext cx="2698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29" extrusionOk="0">
                    <a:moveTo>
                      <a:pt x="619" y="58"/>
                    </a:moveTo>
                    <a:cubicBezTo>
                      <a:pt x="561" y="0"/>
                      <a:pt x="467" y="0"/>
                      <a:pt x="409" y="58"/>
                    </a:cubicBezTo>
                    <a:lnTo>
                      <a:pt x="91" y="375"/>
                    </a:lnTo>
                    <a:cubicBezTo>
                      <a:pt x="0" y="467"/>
                      <a:pt x="66" y="629"/>
                      <a:pt x="197" y="629"/>
                    </a:cubicBezTo>
                    <a:cubicBezTo>
                      <a:pt x="235" y="629"/>
                      <a:pt x="273" y="615"/>
                      <a:pt x="302" y="586"/>
                    </a:cubicBezTo>
                    <a:lnTo>
                      <a:pt x="619" y="268"/>
                    </a:lnTo>
                    <a:cubicBezTo>
                      <a:pt x="678" y="210"/>
                      <a:pt x="678" y="116"/>
                      <a:pt x="619" y="58"/>
                    </a:cubicBezTo>
                    <a:close/>
                    <a:moveTo>
                      <a:pt x="619" y="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C06F05E-72B0-E884-22D0-6859FD227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455" y="974587"/>
            <a:ext cx="4342597" cy="2632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30EEC5-A357-58BD-0A24-2FBFDA4FB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16" y="974587"/>
            <a:ext cx="4128150" cy="263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9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>
          <a:extLst>
            <a:ext uri="{FF2B5EF4-FFF2-40B4-BE49-F238E27FC236}">
              <a16:creationId xmlns:a16="http://schemas.microsoft.com/office/drawing/2014/main" id="{1A1BD971-86A0-74FD-4BE5-C4E56C25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>
            <a:extLst>
              <a:ext uri="{FF2B5EF4-FFF2-40B4-BE49-F238E27FC236}">
                <a16:creationId xmlns:a16="http://schemas.microsoft.com/office/drawing/2014/main" id="{3C566CC2-BCE1-A9AA-ACC5-A0AAECBA852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3716" y="274696"/>
            <a:ext cx="6342918" cy="58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Customer behavior analysis(</a:t>
            </a:r>
            <a:r>
              <a:rPr lang="en-US" sz="1600" b="0" dirty="0"/>
              <a:t>analysis for entire segment</a:t>
            </a:r>
            <a:r>
              <a:rPr lang="en-US" sz="1600" dirty="0"/>
              <a:t>)</a:t>
            </a:r>
            <a:endParaRPr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CD4423-F654-84F2-5EE6-5F20563F37EC}"/>
              </a:ext>
            </a:extLst>
          </p:cNvPr>
          <p:cNvGrpSpPr/>
          <p:nvPr/>
        </p:nvGrpSpPr>
        <p:grpSpPr>
          <a:xfrm>
            <a:off x="172515" y="196859"/>
            <a:ext cx="634500" cy="634500"/>
            <a:chOff x="924931" y="1993516"/>
            <a:chExt cx="634500" cy="634500"/>
          </a:xfrm>
        </p:grpSpPr>
        <p:sp>
          <p:nvSpPr>
            <p:cNvPr id="2264" name="Google Shape;2264;p33">
              <a:extLst>
                <a:ext uri="{FF2B5EF4-FFF2-40B4-BE49-F238E27FC236}">
                  <a16:creationId xmlns:a16="http://schemas.microsoft.com/office/drawing/2014/main" id="{278E4006-488E-9AF4-ACD0-3D4A56FA3D9D}"/>
                </a:ext>
              </a:extLst>
            </p:cNvPr>
            <p:cNvSpPr/>
            <p:nvPr/>
          </p:nvSpPr>
          <p:spPr>
            <a:xfrm>
              <a:off x="924931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5" name="Google Shape;2275;p33">
              <a:extLst>
                <a:ext uri="{FF2B5EF4-FFF2-40B4-BE49-F238E27FC236}">
                  <a16:creationId xmlns:a16="http://schemas.microsoft.com/office/drawing/2014/main" id="{1A05CF19-025D-8284-CA5A-7D2E92A30D2E}"/>
                </a:ext>
              </a:extLst>
            </p:cNvPr>
            <p:cNvGrpSpPr/>
            <p:nvPr/>
          </p:nvGrpSpPr>
          <p:grpSpPr>
            <a:xfrm>
              <a:off x="1029231" y="2109917"/>
              <a:ext cx="393701" cy="395298"/>
              <a:chOff x="2409825" y="1658938"/>
              <a:chExt cx="393701" cy="395298"/>
            </a:xfrm>
          </p:grpSpPr>
          <p:sp>
            <p:nvSpPr>
              <p:cNvPr id="2276" name="Google Shape;2276;p33">
                <a:extLst>
                  <a:ext uri="{FF2B5EF4-FFF2-40B4-BE49-F238E27FC236}">
                    <a16:creationId xmlns:a16="http://schemas.microsoft.com/office/drawing/2014/main" id="{48779478-9550-44AF-044B-F16C8033705F}"/>
                  </a:ext>
                </a:extLst>
              </p:cNvPr>
              <p:cNvSpPr/>
              <p:nvPr/>
            </p:nvSpPr>
            <p:spPr>
              <a:xfrm>
                <a:off x="2409825" y="1658938"/>
                <a:ext cx="393701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43" extrusionOk="0">
                    <a:moveTo>
                      <a:pt x="9994" y="0"/>
                    </a:moveTo>
                    <a:lnTo>
                      <a:pt x="4159" y="0"/>
                    </a:lnTo>
                    <a:cubicBezTo>
                      <a:pt x="4119" y="0"/>
                      <a:pt x="4081" y="16"/>
                      <a:pt x="4053" y="43"/>
                    </a:cubicBezTo>
                    <a:lnTo>
                      <a:pt x="2267" y="1830"/>
                    </a:lnTo>
                    <a:cubicBezTo>
                      <a:pt x="2239" y="1857"/>
                      <a:pt x="2223" y="1896"/>
                      <a:pt x="2223" y="1935"/>
                    </a:cubicBezTo>
                    <a:lnTo>
                      <a:pt x="2223" y="2699"/>
                    </a:lnTo>
                    <a:lnTo>
                      <a:pt x="149" y="2699"/>
                    </a:lnTo>
                    <a:cubicBezTo>
                      <a:pt x="67" y="2699"/>
                      <a:pt x="0" y="2766"/>
                      <a:pt x="0" y="2848"/>
                    </a:cubicBezTo>
                    <a:lnTo>
                      <a:pt x="0" y="4922"/>
                    </a:lnTo>
                    <a:cubicBezTo>
                      <a:pt x="0" y="5004"/>
                      <a:pt x="67" y="5071"/>
                      <a:pt x="149" y="5071"/>
                    </a:cubicBezTo>
                    <a:cubicBezTo>
                      <a:pt x="231" y="5071"/>
                      <a:pt x="298" y="5004"/>
                      <a:pt x="298" y="4922"/>
                    </a:cubicBezTo>
                    <a:lnTo>
                      <a:pt x="298" y="2997"/>
                    </a:lnTo>
                    <a:lnTo>
                      <a:pt x="4764" y="2997"/>
                    </a:lnTo>
                    <a:lnTo>
                      <a:pt x="4764" y="8733"/>
                    </a:lnTo>
                    <a:lnTo>
                      <a:pt x="298" y="8733"/>
                    </a:lnTo>
                    <a:lnTo>
                      <a:pt x="298" y="5637"/>
                    </a:lnTo>
                    <a:cubicBezTo>
                      <a:pt x="298" y="5555"/>
                      <a:pt x="231" y="5488"/>
                      <a:pt x="149" y="5488"/>
                    </a:cubicBezTo>
                    <a:cubicBezTo>
                      <a:pt x="67" y="5488"/>
                      <a:pt x="0" y="5555"/>
                      <a:pt x="0" y="5637"/>
                    </a:cubicBezTo>
                    <a:lnTo>
                      <a:pt x="0" y="8882"/>
                    </a:lnTo>
                    <a:cubicBezTo>
                      <a:pt x="0" y="8964"/>
                      <a:pt x="67" y="9031"/>
                      <a:pt x="149" y="9031"/>
                    </a:cubicBezTo>
                    <a:lnTo>
                      <a:pt x="2223" y="9031"/>
                    </a:lnTo>
                    <a:lnTo>
                      <a:pt x="2223" y="9994"/>
                    </a:lnTo>
                    <a:cubicBezTo>
                      <a:pt x="2223" y="10076"/>
                      <a:pt x="2290" y="10143"/>
                      <a:pt x="2372" y="10143"/>
                    </a:cubicBezTo>
                    <a:lnTo>
                      <a:pt x="9994" y="10143"/>
                    </a:lnTo>
                    <a:cubicBezTo>
                      <a:pt x="10076" y="10143"/>
                      <a:pt x="10143" y="10076"/>
                      <a:pt x="10143" y="9994"/>
                    </a:cubicBezTo>
                    <a:lnTo>
                      <a:pt x="10143" y="148"/>
                    </a:lnTo>
                    <a:cubicBezTo>
                      <a:pt x="10143" y="66"/>
                      <a:pt x="10076" y="0"/>
                      <a:pt x="9994" y="0"/>
                    </a:cubicBezTo>
                    <a:close/>
                    <a:moveTo>
                      <a:pt x="4010" y="508"/>
                    </a:moveTo>
                    <a:lnTo>
                      <a:pt x="4010" y="1786"/>
                    </a:lnTo>
                    <a:lnTo>
                      <a:pt x="2731" y="1786"/>
                    </a:lnTo>
                    <a:lnTo>
                      <a:pt x="4010" y="508"/>
                    </a:lnTo>
                    <a:close/>
                    <a:moveTo>
                      <a:pt x="9845" y="9845"/>
                    </a:moveTo>
                    <a:lnTo>
                      <a:pt x="2521" y="9845"/>
                    </a:lnTo>
                    <a:lnTo>
                      <a:pt x="2521" y="9031"/>
                    </a:lnTo>
                    <a:lnTo>
                      <a:pt x="4913" y="9031"/>
                    </a:lnTo>
                    <a:cubicBezTo>
                      <a:pt x="4995" y="9031"/>
                      <a:pt x="5062" y="8964"/>
                      <a:pt x="5062" y="8882"/>
                    </a:cubicBezTo>
                    <a:lnTo>
                      <a:pt x="5062" y="2848"/>
                    </a:lnTo>
                    <a:cubicBezTo>
                      <a:pt x="5062" y="2766"/>
                      <a:pt x="4995" y="2699"/>
                      <a:pt x="4913" y="2699"/>
                    </a:cubicBezTo>
                    <a:lnTo>
                      <a:pt x="2521" y="2699"/>
                    </a:lnTo>
                    <a:lnTo>
                      <a:pt x="2521" y="2084"/>
                    </a:lnTo>
                    <a:lnTo>
                      <a:pt x="4159" y="2084"/>
                    </a:lnTo>
                    <a:cubicBezTo>
                      <a:pt x="4241" y="2084"/>
                      <a:pt x="4307" y="2017"/>
                      <a:pt x="4307" y="1935"/>
                    </a:cubicBezTo>
                    <a:lnTo>
                      <a:pt x="4307" y="297"/>
                    </a:lnTo>
                    <a:lnTo>
                      <a:pt x="9845" y="297"/>
                    </a:lnTo>
                    <a:lnTo>
                      <a:pt x="9845" y="9845"/>
                    </a:lnTo>
                    <a:close/>
                    <a:moveTo>
                      <a:pt x="9845" y="9845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33">
                <a:extLst>
                  <a:ext uri="{FF2B5EF4-FFF2-40B4-BE49-F238E27FC236}">
                    <a16:creationId xmlns:a16="http://schemas.microsoft.com/office/drawing/2014/main" id="{8F6E3916-FF02-D6D8-0B1A-1C9BD4D4EC59}"/>
                  </a:ext>
                </a:extLst>
              </p:cNvPr>
              <p:cNvSpPr/>
              <p:nvPr/>
            </p:nvSpPr>
            <p:spPr>
              <a:xfrm>
                <a:off x="2655888" y="1701800"/>
                <a:ext cx="104775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5379" extrusionOk="0">
                    <a:moveTo>
                      <a:pt x="2292" y="2362"/>
                    </a:moveTo>
                    <a:cubicBezTo>
                      <a:pt x="2506" y="2362"/>
                      <a:pt x="2680" y="2189"/>
                      <a:pt x="2680" y="1975"/>
                    </a:cubicBezTo>
                    <a:lnTo>
                      <a:pt x="2680" y="1737"/>
                    </a:lnTo>
                    <a:cubicBezTo>
                      <a:pt x="2680" y="1180"/>
                      <a:pt x="2264" y="718"/>
                      <a:pt x="1727" y="645"/>
                    </a:cubicBezTo>
                    <a:lnTo>
                      <a:pt x="1727" y="387"/>
                    </a:lnTo>
                    <a:cubicBezTo>
                      <a:pt x="1727" y="174"/>
                      <a:pt x="1553" y="0"/>
                      <a:pt x="1340" y="0"/>
                    </a:cubicBezTo>
                    <a:cubicBezTo>
                      <a:pt x="1126" y="0"/>
                      <a:pt x="953" y="174"/>
                      <a:pt x="953" y="387"/>
                    </a:cubicBezTo>
                    <a:lnTo>
                      <a:pt x="953" y="665"/>
                    </a:lnTo>
                    <a:cubicBezTo>
                      <a:pt x="401" y="788"/>
                      <a:pt x="0" y="1279"/>
                      <a:pt x="0" y="1856"/>
                    </a:cubicBezTo>
                    <a:cubicBezTo>
                      <a:pt x="0" y="2529"/>
                      <a:pt x="547" y="3077"/>
                      <a:pt x="1221" y="3077"/>
                    </a:cubicBezTo>
                    <a:lnTo>
                      <a:pt x="1459" y="3077"/>
                    </a:lnTo>
                    <a:cubicBezTo>
                      <a:pt x="1705" y="3077"/>
                      <a:pt x="1905" y="3277"/>
                      <a:pt x="1905" y="3523"/>
                    </a:cubicBezTo>
                    <a:cubicBezTo>
                      <a:pt x="1905" y="3770"/>
                      <a:pt x="1705" y="3970"/>
                      <a:pt x="1459" y="3970"/>
                    </a:cubicBezTo>
                    <a:lnTo>
                      <a:pt x="1102" y="3970"/>
                    </a:lnTo>
                    <a:cubicBezTo>
                      <a:pt x="921" y="3970"/>
                      <a:pt x="774" y="3823"/>
                      <a:pt x="774" y="3642"/>
                    </a:cubicBezTo>
                    <a:cubicBezTo>
                      <a:pt x="774" y="3429"/>
                      <a:pt x="600" y="3255"/>
                      <a:pt x="387" y="3255"/>
                    </a:cubicBezTo>
                    <a:cubicBezTo>
                      <a:pt x="173" y="3255"/>
                      <a:pt x="0" y="3429"/>
                      <a:pt x="0" y="3642"/>
                    </a:cubicBezTo>
                    <a:cubicBezTo>
                      <a:pt x="0" y="4200"/>
                      <a:pt x="415" y="4661"/>
                      <a:pt x="953" y="4734"/>
                    </a:cubicBezTo>
                    <a:lnTo>
                      <a:pt x="953" y="4992"/>
                    </a:lnTo>
                    <a:cubicBezTo>
                      <a:pt x="953" y="5206"/>
                      <a:pt x="1126" y="5379"/>
                      <a:pt x="1340" y="5379"/>
                    </a:cubicBezTo>
                    <a:cubicBezTo>
                      <a:pt x="1553" y="5379"/>
                      <a:pt x="1727" y="5206"/>
                      <a:pt x="1727" y="4992"/>
                    </a:cubicBezTo>
                    <a:lnTo>
                      <a:pt x="1727" y="4714"/>
                    </a:lnTo>
                    <a:cubicBezTo>
                      <a:pt x="2278" y="4591"/>
                      <a:pt x="2679" y="4101"/>
                      <a:pt x="2679" y="3523"/>
                    </a:cubicBezTo>
                    <a:cubicBezTo>
                      <a:pt x="2679" y="2850"/>
                      <a:pt x="2132" y="2303"/>
                      <a:pt x="1459" y="2303"/>
                    </a:cubicBezTo>
                    <a:lnTo>
                      <a:pt x="1221" y="2303"/>
                    </a:lnTo>
                    <a:cubicBezTo>
                      <a:pt x="974" y="2303"/>
                      <a:pt x="774" y="2102"/>
                      <a:pt x="774" y="1856"/>
                    </a:cubicBezTo>
                    <a:cubicBezTo>
                      <a:pt x="774" y="1610"/>
                      <a:pt x="974" y="1410"/>
                      <a:pt x="1221" y="1410"/>
                    </a:cubicBezTo>
                    <a:lnTo>
                      <a:pt x="1578" y="1410"/>
                    </a:lnTo>
                    <a:cubicBezTo>
                      <a:pt x="1759" y="1410"/>
                      <a:pt x="1905" y="1556"/>
                      <a:pt x="1905" y="1737"/>
                    </a:cubicBezTo>
                    <a:lnTo>
                      <a:pt x="1905" y="1975"/>
                    </a:lnTo>
                    <a:cubicBezTo>
                      <a:pt x="1905" y="2189"/>
                      <a:pt x="2079" y="2362"/>
                      <a:pt x="2292" y="2362"/>
                    </a:cubicBezTo>
                    <a:close/>
                    <a:moveTo>
                      <a:pt x="1578" y="1112"/>
                    </a:moveTo>
                    <a:lnTo>
                      <a:pt x="1221" y="1112"/>
                    </a:lnTo>
                    <a:cubicBezTo>
                      <a:pt x="810" y="1112"/>
                      <a:pt x="476" y="1446"/>
                      <a:pt x="476" y="1856"/>
                    </a:cubicBezTo>
                    <a:cubicBezTo>
                      <a:pt x="476" y="2267"/>
                      <a:pt x="810" y="2600"/>
                      <a:pt x="1221" y="2600"/>
                    </a:cubicBezTo>
                    <a:lnTo>
                      <a:pt x="1459" y="2600"/>
                    </a:lnTo>
                    <a:cubicBezTo>
                      <a:pt x="1968" y="2600"/>
                      <a:pt x="2382" y="3014"/>
                      <a:pt x="2382" y="3523"/>
                    </a:cubicBezTo>
                    <a:cubicBezTo>
                      <a:pt x="2382" y="3994"/>
                      <a:pt x="2029" y="4389"/>
                      <a:pt x="1561" y="4441"/>
                    </a:cubicBezTo>
                    <a:cubicBezTo>
                      <a:pt x="1486" y="4449"/>
                      <a:pt x="1429" y="4513"/>
                      <a:pt x="1429" y="4589"/>
                    </a:cubicBezTo>
                    <a:lnTo>
                      <a:pt x="1429" y="4992"/>
                    </a:lnTo>
                    <a:cubicBezTo>
                      <a:pt x="1429" y="5041"/>
                      <a:pt x="1389" y="5082"/>
                      <a:pt x="1340" y="5082"/>
                    </a:cubicBezTo>
                    <a:cubicBezTo>
                      <a:pt x="1290" y="5082"/>
                      <a:pt x="1250" y="5042"/>
                      <a:pt x="1250" y="4992"/>
                    </a:cubicBezTo>
                    <a:lnTo>
                      <a:pt x="1250" y="4595"/>
                    </a:lnTo>
                    <a:cubicBezTo>
                      <a:pt x="1250" y="4513"/>
                      <a:pt x="1184" y="4446"/>
                      <a:pt x="1101" y="4446"/>
                    </a:cubicBezTo>
                    <a:cubicBezTo>
                      <a:pt x="658" y="4446"/>
                      <a:pt x="298" y="4086"/>
                      <a:pt x="298" y="3642"/>
                    </a:cubicBezTo>
                    <a:cubicBezTo>
                      <a:pt x="298" y="3593"/>
                      <a:pt x="338" y="3553"/>
                      <a:pt x="387" y="3553"/>
                    </a:cubicBezTo>
                    <a:cubicBezTo>
                      <a:pt x="436" y="3553"/>
                      <a:pt x="476" y="3593"/>
                      <a:pt x="476" y="3642"/>
                    </a:cubicBezTo>
                    <a:cubicBezTo>
                      <a:pt x="476" y="3987"/>
                      <a:pt x="757" y="4268"/>
                      <a:pt x="1102" y="4268"/>
                    </a:cubicBezTo>
                    <a:lnTo>
                      <a:pt x="1459" y="4268"/>
                    </a:lnTo>
                    <a:cubicBezTo>
                      <a:pt x="1869" y="4268"/>
                      <a:pt x="2203" y="3934"/>
                      <a:pt x="2203" y="3523"/>
                    </a:cubicBezTo>
                    <a:cubicBezTo>
                      <a:pt x="2203" y="3113"/>
                      <a:pt x="1869" y="2779"/>
                      <a:pt x="1459" y="2779"/>
                    </a:cubicBezTo>
                    <a:lnTo>
                      <a:pt x="1221" y="2779"/>
                    </a:lnTo>
                    <a:cubicBezTo>
                      <a:pt x="712" y="2779"/>
                      <a:pt x="298" y="2365"/>
                      <a:pt x="298" y="1856"/>
                    </a:cubicBezTo>
                    <a:cubicBezTo>
                      <a:pt x="298" y="1385"/>
                      <a:pt x="650" y="991"/>
                      <a:pt x="1118" y="939"/>
                    </a:cubicBezTo>
                    <a:cubicBezTo>
                      <a:pt x="1193" y="931"/>
                      <a:pt x="1250" y="867"/>
                      <a:pt x="1250" y="791"/>
                    </a:cubicBezTo>
                    <a:lnTo>
                      <a:pt x="1250" y="387"/>
                    </a:lnTo>
                    <a:cubicBezTo>
                      <a:pt x="1250" y="338"/>
                      <a:pt x="1290" y="298"/>
                      <a:pt x="1340" y="298"/>
                    </a:cubicBezTo>
                    <a:cubicBezTo>
                      <a:pt x="1389" y="298"/>
                      <a:pt x="1429" y="338"/>
                      <a:pt x="1429" y="387"/>
                    </a:cubicBezTo>
                    <a:lnTo>
                      <a:pt x="1429" y="784"/>
                    </a:lnTo>
                    <a:cubicBezTo>
                      <a:pt x="1429" y="866"/>
                      <a:pt x="1496" y="933"/>
                      <a:pt x="1578" y="933"/>
                    </a:cubicBezTo>
                    <a:cubicBezTo>
                      <a:pt x="2021" y="933"/>
                      <a:pt x="2382" y="1294"/>
                      <a:pt x="2382" y="1737"/>
                    </a:cubicBezTo>
                    <a:lnTo>
                      <a:pt x="2382" y="1975"/>
                    </a:lnTo>
                    <a:cubicBezTo>
                      <a:pt x="2382" y="2024"/>
                      <a:pt x="2342" y="2064"/>
                      <a:pt x="2292" y="2064"/>
                    </a:cubicBezTo>
                    <a:cubicBezTo>
                      <a:pt x="2243" y="2064"/>
                      <a:pt x="2203" y="2024"/>
                      <a:pt x="2203" y="1975"/>
                    </a:cubicBezTo>
                    <a:lnTo>
                      <a:pt x="2203" y="1737"/>
                    </a:lnTo>
                    <a:cubicBezTo>
                      <a:pt x="2203" y="1392"/>
                      <a:pt x="1923" y="1112"/>
                      <a:pt x="1578" y="1112"/>
                    </a:cubicBezTo>
                    <a:close/>
                    <a:moveTo>
                      <a:pt x="1578" y="111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33">
                <a:extLst>
                  <a:ext uri="{FF2B5EF4-FFF2-40B4-BE49-F238E27FC236}">
                    <a16:creationId xmlns:a16="http://schemas.microsoft.com/office/drawing/2014/main" id="{4A52854A-858E-175D-2E96-F15002F322C4}"/>
                  </a:ext>
                </a:extLst>
              </p:cNvPr>
              <p:cNvSpPr/>
              <p:nvPr/>
            </p:nvSpPr>
            <p:spPr>
              <a:xfrm>
                <a:off x="2632075" y="1936750"/>
                <a:ext cx="53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33">
                <a:extLst>
                  <a:ext uri="{FF2B5EF4-FFF2-40B4-BE49-F238E27FC236}">
                    <a16:creationId xmlns:a16="http://schemas.microsoft.com/office/drawing/2014/main" id="{2F39BCC3-6C43-5FA1-B4E1-E24297155342}"/>
                  </a:ext>
                </a:extLst>
              </p:cNvPr>
              <p:cNvSpPr/>
              <p:nvPr/>
            </p:nvSpPr>
            <p:spPr>
              <a:xfrm>
                <a:off x="2698750" y="1936750"/>
                <a:ext cx="7461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6" y="231"/>
                      <a:pt x="1886" y="149"/>
                    </a:cubicBezTo>
                    <a:cubicBezTo>
                      <a:pt x="1886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33">
                <a:extLst>
                  <a:ext uri="{FF2B5EF4-FFF2-40B4-BE49-F238E27FC236}">
                    <a16:creationId xmlns:a16="http://schemas.microsoft.com/office/drawing/2014/main" id="{FB1CF2A5-E04D-CD21-B337-957AEA744529}"/>
                  </a:ext>
                </a:extLst>
              </p:cNvPr>
              <p:cNvSpPr/>
              <p:nvPr/>
            </p:nvSpPr>
            <p:spPr>
              <a:xfrm>
                <a:off x="2632075" y="1968500"/>
                <a:ext cx="36513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298" extrusionOk="0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33">
                <a:extLst>
                  <a:ext uri="{FF2B5EF4-FFF2-40B4-BE49-F238E27FC236}">
                    <a16:creationId xmlns:a16="http://schemas.microsoft.com/office/drawing/2014/main" id="{0AC28204-B4A7-660E-8F53-4068E1BD2090}"/>
                  </a:ext>
                </a:extLst>
              </p:cNvPr>
              <p:cNvSpPr/>
              <p:nvPr/>
            </p:nvSpPr>
            <p:spPr>
              <a:xfrm>
                <a:off x="2681288" y="1968500"/>
                <a:ext cx="92077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298" extrusionOk="0">
                    <a:moveTo>
                      <a:pt x="221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2213" y="298"/>
                    </a:lnTo>
                    <a:cubicBezTo>
                      <a:pt x="2295" y="298"/>
                      <a:pt x="2362" y="231"/>
                      <a:pt x="2362" y="149"/>
                    </a:cubicBezTo>
                    <a:cubicBezTo>
                      <a:pt x="2362" y="67"/>
                      <a:pt x="2295" y="0"/>
                      <a:pt x="2213" y="0"/>
                    </a:cubicBezTo>
                    <a:close/>
                    <a:moveTo>
                      <a:pt x="2213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33">
                <a:extLst>
                  <a:ext uri="{FF2B5EF4-FFF2-40B4-BE49-F238E27FC236}">
                    <a16:creationId xmlns:a16="http://schemas.microsoft.com/office/drawing/2014/main" id="{B3977F4C-434D-1BB5-42E6-7C5F298574B5}"/>
                  </a:ext>
                </a:extLst>
              </p:cNvPr>
              <p:cNvSpPr/>
              <p:nvPr/>
            </p:nvSpPr>
            <p:spPr>
              <a:xfrm>
                <a:off x="2632075" y="1998663"/>
                <a:ext cx="730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5" y="231"/>
                      <a:pt x="1885" y="149"/>
                    </a:cubicBezTo>
                    <a:cubicBezTo>
                      <a:pt x="1885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33">
                <a:extLst>
                  <a:ext uri="{FF2B5EF4-FFF2-40B4-BE49-F238E27FC236}">
                    <a16:creationId xmlns:a16="http://schemas.microsoft.com/office/drawing/2014/main" id="{B7E6A281-41DF-555D-ECA6-5436DCD15A69}"/>
                  </a:ext>
                </a:extLst>
              </p:cNvPr>
              <p:cNvSpPr/>
              <p:nvPr/>
            </p:nvSpPr>
            <p:spPr>
              <a:xfrm>
                <a:off x="2717800" y="1998663"/>
                <a:ext cx="55564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33">
                <a:extLst>
                  <a:ext uri="{FF2B5EF4-FFF2-40B4-BE49-F238E27FC236}">
                    <a16:creationId xmlns:a16="http://schemas.microsoft.com/office/drawing/2014/main" id="{BD374C7D-D17F-6042-84E1-2C2256660A23}"/>
                  </a:ext>
                </a:extLst>
              </p:cNvPr>
              <p:cNvSpPr/>
              <p:nvPr/>
            </p:nvSpPr>
            <p:spPr>
              <a:xfrm>
                <a:off x="2433638" y="1789113"/>
                <a:ext cx="147640" cy="49211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1251" extrusionOk="0">
                    <a:moveTo>
                      <a:pt x="36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102"/>
                    </a:lnTo>
                    <a:cubicBezTo>
                      <a:pt x="0" y="1184"/>
                      <a:pt x="67" y="1251"/>
                      <a:pt x="149" y="1251"/>
                    </a:cubicBezTo>
                    <a:lnTo>
                      <a:pt x="3643" y="1251"/>
                    </a:lnTo>
                    <a:cubicBezTo>
                      <a:pt x="3725" y="1251"/>
                      <a:pt x="3791" y="1184"/>
                      <a:pt x="3791" y="1102"/>
                    </a:cubicBezTo>
                    <a:lnTo>
                      <a:pt x="3791" y="149"/>
                    </a:lnTo>
                    <a:cubicBezTo>
                      <a:pt x="3791" y="67"/>
                      <a:pt x="3725" y="0"/>
                      <a:pt x="3643" y="0"/>
                    </a:cubicBezTo>
                    <a:close/>
                    <a:moveTo>
                      <a:pt x="3494" y="953"/>
                    </a:moveTo>
                    <a:lnTo>
                      <a:pt x="298" y="953"/>
                    </a:lnTo>
                    <a:lnTo>
                      <a:pt x="298" y="298"/>
                    </a:lnTo>
                    <a:lnTo>
                      <a:pt x="3494" y="298"/>
                    </a:lnTo>
                    <a:lnTo>
                      <a:pt x="3494" y="953"/>
                    </a:lnTo>
                    <a:close/>
                    <a:moveTo>
                      <a:pt x="3494" y="9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33">
                <a:extLst>
                  <a:ext uri="{FF2B5EF4-FFF2-40B4-BE49-F238E27FC236}">
                    <a16:creationId xmlns:a16="http://schemas.microsoft.com/office/drawing/2014/main" id="{0ED3131E-34D6-AD28-13CB-C2DEECF0463F}"/>
                  </a:ext>
                </a:extLst>
              </p:cNvPr>
              <p:cNvSpPr/>
              <p:nvPr/>
            </p:nvSpPr>
            <p:spPr>
              <a:xfrm>
                <a:off x="2520950" y="1851025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20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33">
                <a:extLst>
                  <a:ext uri="{FF2B5EF4-FFF2-40B4-BE49-F238E27FC236}">
                    <a16:creationId xmlns:a16="http://schemas.microsoft.com/office/drawing/2014/main" id="{D4AB2F9F-A4AD-22AD-8D7F-91927419EAD5}"/>
                  </a:ext>
                </a:extLst>
              </p:cNvPr>
              <p:cNvSpPr/>
              <p:nvPr/>
            </p:nvSpPr>
            <p:spPr>
              <a:xfrm>
                <a:off x="2433638" y="1851025"/>
                <a:ext cx="6191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19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33">
                <a:extLst>
                  <a:ext uri="{FF2B5EF4-FFF2-40B4-BE49-F238E27FC236}">
                    <a16:creationId xmlns:a16="http://schemas.microsoft.com/office/drawing/2014/main" id="{1E7F0BBC-2800-E552-6D70-A30912A0E1D4}"/>
                  </a:ext>
                </a:extLst>
              </p:cNvPr>
              <p:cNvSpPr/>
              <p:nvPr/>
            </p:nvSpPr>
            <p:spPr>
              <a:xfrm>
                <a:off x="2520950" y="1924050"/>
                <a:ext cx="603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20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33">
                <a:extLst>
                  <a:ext uri="{FF2B5EF4-FFF2-40B4-BE49-F238E27FC236}">
                    <a16:creationId xmlns:a16="http://schemas.microsoft.com/office/drawing/2014/main" id="{DAEE4BB2-4735-452A-C793-9AD1EA4CE719}"/>
                  </a:ext>
                </a:extLst>
              </p:cNvPr>
              <p:cNvSpPr/>
              <p:nvPr/>
            </p:nvSpPr>
            <p:spPr>
              <a:xfrm>
                <a:off x="2433638" y="192405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19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33">
                <a:extLst>
                  <a:ext uri="{FF2B5EF4-FFF2-40B4-BE49-F238E27FC236}">
                    <a16:creationId xmlns:a16="http://schemas.microsoft.com/office/drawing/2014/main" id="{4F497E42-A6AE-D78B-4B27-63013645D246}"/>
                  </a:ext>
                </a:extLst>
              </p:cNvPr>
              <p:cNvSpPr/>
              <p:nvPr/>
            </p:nvSpPr>
            <p:spPr>
              <a:xfrm>
                <a:off x="2452688" y="1868488"/>
                <a:ext cx="23813" cy="2539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15" extrusionOk="0">
                    <a:moveTo>
                      <a:pt x="466" y="158"/>
                    </a:moveTo>
                    <a:lnTo>
                      <a:pt x="456" y="158"/>
                    </a:lnTo>
                    <a:lnTo>
                      <a:pt x="456" y="149"/>
                    </a:lnTo>
                    <a:cubicBezTo>
                      <a:pt x="456" y="66"/>
                      <a:pt x="390" y="0"/>
                      <a:pt x="307" y="0"/>
                    </a:cubicBezTo>
                    <a:cubicBezTo>
                      <a:pt x="225" y="0"/>
                      <a:pt x="158" y="66"/>
                      <a:pt x="158" y="149"/>
                    </a:cubicBezTo>
                    <a:lnTo>
                      <a:pt x="158" y="158"/>
                    </a:lnTo>
                    <a:lnTo>
                      <a:pt x="148" y="158"/>
                    </a:lnTo>
                    <a:cubicBezTo>
                      <a:pt x="66" y="158"/>
                      <a:pt x="0" y="225"/>
                      <a:pt x="0" y="307"/>
                    </a:cubicBezTo>
                    <a:cubicBezTo>
                      <a:pt x="0" y="390"/>
                      <a:pt x="66" y="456"/>
                      <a:pt x="148" y="456"/>
                    </a:cubicBezTo>
                    <a:lnTo>
                      <a:pt x="158" y="456"/>
                    </a:lnTo>
                    <a:lnTo>
                      <a:pt x="158" y="466"/>
                    </a:lnTo>
                    <a:cubicBezTo>
                      <a:pt x="158" y="548"/>
                      <a:pt x="225" y="615"/>
                      <a:pt x="307" y="615"/>
                    </a:cubicBezTo>
                    <a:cubicBezTo>
                      <a:pt x="390" y="615"/>
                      <a:pt x="456" y="548"/>
                      <a:pt x="456" y="466"/>
                    </a:cubicBezTo>
                    <a:lnTo>
                      <a:pt x="456" y="456"/>
                    </a:lnTo>
                    <a:lnTo>
                      <a:pt x="466" y="456"/>
                    </a:lnTo>
                    <a:cubicBezTo>
                      <a:pt x="548" y="456"/>
                      <a:pt x="615" y="389"/>
                      <a:pt x="615" y="307"/>
                    </a:cubicBezTo>
                    <a:cubicBezTo>
                      <a:pt x="615" y="225"/>
                      <a:pt x="548" y="158"/>
                      <a:pt x="466" y="158"/>
                    </a:cubicBezTo>
                    <a:close/>
                    <a:moveTo>
                      <a:pt x="466" y="1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33">
                <a:extLst>
                  <a:ext uri="{FF2B5EF4-FFF2-40B4-BE49-F238E27FC236}">
                    <a16:creationId xmlns:a16="http://schemas.microsoft.com/office/drawing/2014/main" id="{B5381D56-A03E-5E72-356F-C7C7D3FF43D9}"/>
                  </a:ext>
                </a:extLst>
              </p:cNvPr>
              <p:cNvSpPr/>
              <p:nvPr/>
            </p:nvSpPr>
            <p:spPr>
              <a:xfrm>
                <a:off x="2538413" y="1874838"/>
                <a:ext cx="2381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98" extrusionOk="0">
                    <a:moveTo>
                      <a:pt x="466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2"/>
                      <a:pt x="66" y="298"/>
                      <a:pt x="149" y="298"/>
                    </a:cubicBezTo>
                    <a:lnTo>
                      <a:pt x="466" y="298"/>
                    </a:lnTo>
                    <a:cubicBezTo>
                      <a:pt x="548" y="298"/>
                      <a:pt x="615" y="231"/>
                      <a:pt x="615" y="149"/>
                    </a:cubicBezTo>
                    <a:cubicBezTo>
                      <a:pt x="615" y="67"/>
                      <a:pt x="548" y="0"/>
                      <a:pt x="466" y="0"/>
                    </a:cubicBezTo>
                    <a:close/>
                    <a:moveTo>
                      <a:pt x="466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33">
                <a:extLst>
                  <a:ext uri="{FF2B5EF4-FFF2-40B4-BE49-F238E27FC236}">
                    <a16:creationId xmlns:a16="http://schemas.microsoft.com/office/drawing/2014/main" id="{9E0E660A-8901-3788-EDFB-4A4E6B6909C4}"/>
                  </a:ext>
                </a:extLst>
              </p:cNvPr>
              <p:cNvSpPr/>
              <p:nvPr/>
            </p:nvSpPr>
            <p:spPr>
              <a:xfrm>
                <a:off x="2452688" y="1943100"/>
                <a:ext cx="23813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29" extrusionOk="0">
                    <a:moveTo>
                      <a:pt x="533" y="322"/>
                    </a:moveTo>
                    <a:lnTo>
                      <a:pt x="586" y="268"/>
                    </a:lnTo>
                    <a:cubicBezTo>
                      <a:pt x="645" y="210"/>
                      <a:pt x="645" y="116"/>
                      <a:pt x="586" y="58"/>
                    </a:cubicBezTo>
                    <a:cubicBezTo>
                      <a:pt x="528" y="0"/>
                      <a:pt x="434" y="0"/>
                      <a:pt x="376" y="58"/>
                    </a:cubicBezTo>
                    <a:lnTo>
                      <a:pt x="322" y="111"/>
                    </a:lnTo>
                    <a:lnTo>
                      <a:pt x="269" y="58"/>
                    </a:lnTo>
                    <a:cubicBezTo>
                      <a:pt x="211" y="0"/>
                      <a:pt x="116" y="0"/>
                      <a:pt x="58" y="58"/>
                    </a:cubicBezTo>
                    <a:cubicBezTo>
                      <a:pt x="0" y="116"/>
                      <a:pt x="0" y="210"/>
                      <a:pt x="58" y="268"/>
                    </a:cubicBezTo>
                    <a:lnTo>
                      <a:pt x="112" y="322"/>
                    </a:lnTo>
                    <a:lnTo>
                      <a:pt x="58" y="375"/>
                    </a:lnTo>
                    <a:cubicBezTo>
                      <a:pt x="0" y="433"/>
                      <a:pt x="0" y="528"/>
                      <a:pt x="58" y="586"/>
                    </a:cubicBezTo>
                    <a:cubicBezTo>
                      <a:pt x="87" y="615"/>
                      <a:pt x="125" y="629"/>
                      <a:pt x="163" y="629"/>
                    </a:cubicBezTo>
                    <a:cubicBezTo>
                      <a:pt x="202" y="629"/>
                      <a:pt x="240" y="615"/>
                      <a:pt x="269" y="586"/>
                    </a:cubicBezTo>
                    <a:lnTo>
                      <a:pt x="322" y="532"/>
                    </a:lnTo>
                    <a:lnTo>
                      <a:pt x="376" y="586"/>
                    </a:lnTo>
                    <a:cubicBezTo>
                      <a:pt x="405" y="615"/>
                      <a:pt x="443" y="629"/>
                      <a:pt x="481" y="629"/>
                    </a:cubicBezTo>
                    <a:cubicBezTo>
                      <a:pt x="519" y="629"/>
                      <a:pt x="557" y="615"/>
                      <a:pt x="586" y="586"/>
                    </a:cubicBezTo>
                    <a:cubicBezTo>
                      <a:pt x="644" y="528"/>
                      <a:pt x="644" y="433"/>
                      <a:pt x="586" y="375"/>
                    </a:cubicBezTo>
                    <a:lnTo>
                      <a:pt x="533" y="322"/>
                    </a:lnTo>
                    <a:close/>
                    <a:moveTo>
                      <a:pt x="533" y="32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33">
                <a:extLst>
                  <a:ext uri="{FF2B5EF4-FFF2-40B4-BE49-F238E27FC236}">
                    <a16:creationId xmlns:a16="http://schemas.microsoft.com/office/drawing/2014/main" id="{A5482EE9-5465-AF82-B4ED-D420CA87337F}"/>
                  </a:ext>
                </a:extLst>
              </p:cNvPr>
              <p:cNvSpPr/>
              <p:nvPr/>
            </p:nvSpPr>
            <p:spPr>
              <a:xfrm>
                <a:off x="2536825" y="1943100"/>
                <a:ext cx="2698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29" extrusionOk="0">
                    <a:moveTo>
                      <a:pt x="619" y="58"/>
                    </a:moveTo>
                    <a:cubicBezTo>
                      <a:pt x="561" y="0"/>
                      <a:pt x="467" y="0"/>
                      <a:pt x="409" y="58"/>
                    </a:cubicBezTo>
                    <a:lnTo>
                      <a:pt x="91" y="375"/>
                    </a:lnTo>
                    <a:cubicBezTo>
                      <a:pt x="0" y="467"/>
                      <a:pt x="66" y="629"/>
                      <a:pt x="197" y="629"/>
                    </a:cubicBezTo>
                    <a:cubicBezTo>
                      <a:pt x="235" y="629"/>
                      <a:pt x="273" y="615"/>
                      <a:pt x="302" y="586"/>
                    </a:cubicBezTo>
                    <a:lnTo>
                      <a:pt x="619" y="268"/>
                    </a:lnTo>
                    <a:cubicBezTo>
                      <a:pt x="678" y="210"/>
                      <a:pt x="678" y="116"/>
                      <a:pt x="619" y="58"/>
                    </a:cubicBezTo>
                    <a:close/>
                    <a:moveTo>
                      <a:pt x="619" y="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D4583DF-B137-B72D-61AF-E0C198F1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1" y="973048"/>
            <a:ext cx="2951870" cy="21164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06BD8B-47D4-589D-8A2A-41B28F65E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561" y="973048"/>
            <a:ext cx="2951871" cy="21164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2BC2DE-A063-5F82-663B-C3F30979F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431" y="973048"/>
            <a:ext cx="3070699" cy="211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6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>
          <a:extLst>
            <a:ext uri="{FF2B5EF4-FFF2-40B4-BE49-F238E27FC236}">
              <a16:creationId xmlns:a16="http://schemas.microsoft.com/office/drawing/2014/main" id="{F1276DB4-6D31-0EAC-1BFA-20913343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>
            <a:extLst>
              <a:ext uri="{FF2B5EF4-FFF2-40B4-BE49-F238E27FC236}">
                <a16:creationId xmlns:a16="http://schemas.microsoft.com/office/drawing/2014/main" id="{5EEFA1CF-FF91-F828-856B-D4BD194647E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3716" y="274696"/>
            <a:ext cx="6342918" cy="58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Customer behavior analysis(</a:t>
            </a:r>
            <a:r>
              <a:rPr lang="en-US" sz="1600" b="0" dirty="0"/>
              <a:t>analysis for each segment</a:t>
            </a:r>
            <a:r>
              <a:rPr lang="en-US" sz="1600" dirty="0"/>
              <a:t>)</a:t>
            </a:r>
            <a:endParaRPr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5EC5B8-1411-A4E8-A543-9FE6F2E6E2BB}"/>
              </a:ext>
            </a:extLst>
          </p:cNvPr>
          <p:cNvGrpSpPr/>
          <p:nvPr/>
        </p:nvGrpSpPr>
        <p:grpSpPr>
          <a:xfrm>
            <a:off x="172515" y="196859"/>
            <a:ext cx="634500" cy="634500"/>
            <a:chOff x="924931" y="1993516"/>
            <a:chExt cx="634500" cy="634500"/>
          </a:xfrm>
        </p:grpSpPr>
        <p:sp>
          <p:nvSpPr>
            <p:cNvPr id="2264" name="Google Shape;2264;p33">
              <a:extLst>
                <a:ext uri="{FF2B5EF4-FFF2-40B4-BE49-F238E27FC236}">
                  <a16:creationId xmlns:a16="http://schemas.microsoft.com/office/drawing/2014/main" id="{5DF5840B-5DD4-523C-180B-2D4A1A8F6397}"/>
                </a:ext>
              </a:extLst>
            </p:cNvPr>
            <p:cNvSpPr/>
            <p:nvPr/>
          </p:nvSpPr>
          <p:spPr>
            <a:xfrm>
              <a:off x="924931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5" name="Google Shape;2275;p33">
              <a:extLst>
                <a:ext uri="{FF2B5EF4-FFF2-40B4-BE49-F238E27FC236}">
                  <a16:creationId xmlns:a16="http://schemas.microsoft.com/office/drawing/2014/main" id="{F6BE7B9B-CC70-F5BD-6D82-7CBF5B6D11C5}"/>
                </a:ext>
              </a:extLst>
            </p:cNvPr>
            <p:cNvGrpSpPr/>
            <p:nvPr/>
          </p:nvGrpSpPr>
          <p:grpSpPr>
            <a:xfrm>
              <a:off x="1029231" y="2109917"/>
              <a:ext cx="393701" cy="395298"/>
              <a:chOff x="2409825" y="1658938"/>
              <a:chExt cx="393701" cy="395298"/>
            </a:xfrm>
          </p:grpSpPr>
          <p:sp>
            <p:nvSpPr>
              <p:cNvPr id="2276" name="Google Shape;2276;p33">
                <a:extLst>
                  <a:ext uri="{FF2B5EF4-FFF2-40B4-BE49-F238E27FC236}">
                    <a16:creationId xmlns:a16="http://schemas.microsoft.com/office/drawing/2014/main" id="{85E323FC-6FBC-F9B4-242E-239ECEB6A5B2}"/>
                  </a:ext>
                </a:extLst>
              </p:cNvPr>
              <p:cNvSpPr/>
              <p:nvPr/>
            </p:nvSpPr>
            <p:spPr>
              <a:xfrm>
                <a:off x="2409825" y="1658938"/>
                <a:ext cx="393701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43" extrusionOk="0">
                    <a:moveTo>
                      <a:pt x="9994" y="0"/>
                    </a:moveTo>
                    <a:lnTo>
                      <a:pt x="4159" y="0"/>
                    </a:lnTo>
                    <a:cubicBezTo>
                      <a:pt x="4119" y="0"/>
                      <a:pt x="4081" y="16"/>
                      <a:pt x="4053" y="43"/>
                    </a:cubicBezTo>
                    <a:lnTo>
                      <a:pt x="2267" y="1830"/>
                    </a:lnTo>
                    <a:cubicBezTo>
                      <a:pt x="2239" y="1857"/>
                      <a:pt x="2223" y="1896"/>
                      <a:pt x="2223" y="1935"/>
                    </a:cubicBezTo>
                    <a:lnTo>
                      <a:pt x="2223" y="2699"/>
                    </a:lnTo>
                    <a:lnTo>
                      <a:pt x="149" y="2699"/>
                    </a:lnTo>
                    <a:cubicBezTo>
                      <a:pt x="67" y="2699"/>
                      <a:pt x="0" y="2766"/>
                      <a:pt x="0" y="2848"/>
                    </a:cubicBezTo>
                    <a:lnTo>
                      <a:pt x="0" y="4922"/>
                    </a:lnTo>
                    <a:cubicBezTo>
                      <a:pt x="0" y="5004"/>
                      <a:pt x="67" y="5071"/>
                      <a:pt x="149" y="5071"/>
                    </a:cubicBezTo>
                    <a:cubicBezTo>
                      <a:pt x="231" y="5071"/>
                      <a:pt x="298" y="5004"/>
                      <a:pt x="298" y="4922"/>
                    </a:cubicBezTo>
                    <a:lnTo>
                      <a:pt x="298" y="2997"/>
                    </a:lnTo>
                    <a:lnTo>
                      <a:pt x="4764" y="2997"/>
                    </a:lnTo>
                    <a:lnTo>
                      <a:pt x="4764" y="8733"/>
                    </a:lnTo>
                    <a:lnTo>
                      <a:pt x="298" y="8733"/>
                    </a:lnTo>
                    <a:lnTo>
                      <a:pt x="298" y="5637"/>
                    </a:lnTo>
                    <a:cubicBezTo>
                      <a:pt x="298" y="5555"/>
                      <a:pt x="231" y="5488"/>
                      <a:pt x="149" y="5488"/>
                    </a:cubicBezTo>
                    <a:cubicBezTo>
                      <a:pt x="67" y="5488"/>
                      <a:pt x="0" y="5555"/>
                      <a:pt x="0" y="5637"/>
                    </a:cubicBezTo>
                    <a:lnTo>
                      <a:pt x="0" y="8882"/>
                    </a:lnTo>
                    <a:cubicBezTo>
                      <a:pt x="0" y="8964"/>
                      <a:pt x="67" y="9031"/>
                      <a:pt x="149" y="9031"/>
                    </a:cubicBezTo>
                    <a:lnTo>
                      <a:pt x="2223" y="9031"/>
                    </a:lnTo>
                    <a:lnTo>
                      <a:pt x="2223" y="9994"/>
                    </a:lnTo>
                    <a:cubicBezTo>
                      <a:pt x="2223" y="10076"/>
                      <a:pt x="2290" y="10143"/>
                      <a:pt x="2372" y="10143"/>
                    </a:cubicBezTo>
                    <a:lnTo>
                      <a:pt x="9994" y="10143"/>
                    </a:lnTo>
                    <a:cubicBezTo>
                      <a:pt x="10076" y="10143"/>
                      <a:pt x="10143" y="10076"/>
                      <a:pt x="10143" y="9994"/>
                    </a:cubicBezTo>
                    <a:lnTo>
                      <a:pt x="10143" y="148"/>
                    </a:lnTo>
                    <a:cubicBezTo>
                      <a:pt x="10143" y="66"/>
                      <a:pt x="10076" y="0"/>
                      <a:pt x="9994" y="0"/>
                    </a:cubicBezTo>
                    <a:close/>
                    <a:moveTo>
                      <a:pt x="4010" y="508"/>
                    </a:moveTo>
                    <a:lnTo>
                      <a:pt x="4010" y="1786"/>
                    </a:lnTo>
                    <a:lnTo>
                      <a:pt x="2731" y="1786"/>
                    </a:lnTo>
                    <a:lnTo>
                      <a:pt x="4010" y="508"/>
                    </a:lnTo>
                    <a:close/>
                    <a:moveTo>
                      <a:pt x="9845" y="9845"/>
                    </a:moveTo>
                    <a:lnTo>
                      <a:pt x="2521" y="9845"/>
                    </a:lnTo>
                    <a:lnTo>
                      <a:pt x="2521" y="9031"/>
                    </a:lnTo>
                    <a:lnTo>
                      <a:pt x="4913" y="9031"/>
                    </a:lnTo>
                    <a:cubicBezTo>
                      <a:pt x="4995" y="9031"/>
                      <a:pt x="5062" y="8964"/>
                      <a:pt x="5062" y="8882"/>
                    </a:cubicBezTo>
                    <a:lnTo>
                      <a:pt x="5062" y="2848"/>
                    </a:lnTo>
                    <a:cubicBezTo>
                      <a:pt x="5062" y="2766"/>
                      <a:pt x="4995" y="2699"/>
                      <a:pt x="4913" y="2699"/>
                    </a:cubicBezTo>
                    <a:lnTo>
                      <a:pt x="2521" y="2699"/>
                    </a:lnTo>
                    <a:lnTo>
                      <a:pt x="2521" y="2084"/>
                    </a:lnTo>
                    <a:lnTo>
                      <a:pt x="4159" y="2084"/>
                    </a:lnTo>
                    <a:cubicBezTo>
                      <a:pt x="4241" y="2084"/>
                      <a:pt x="4307" y="2017"/>
                      <a:pt x="4307" y="1935"/>
                    </a:cubicBezTo>
                    <a:lnTo>
                      <a:pt x="4307" y="297"/>
                    </a:lnTo>
                    <a:lnTo>
                      <a:pt x="9845" y="297"/>
                    </a:lnTo>
                    <a:lnTo>
                      <a:pt x="9845" y="9845"/>
                    </a:lnTo>
                    <a:close/>
                    <a:moveTo>
                      <a:pt x="9845" y="9845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33">
                <a:extLst>
                  <a:ext uri="{FF2B5EF4-FFF2-40B4-BE49-F238E27FC236}">
                    <a16:creationId xmlns:a16="http://schemas.microsoft.com/office/drawing/2014/main" id="{D25F5037-439D-FC1F-C405-391B31CFB9F3}"/>
                  </a:ext>
                </a:extLst>
              </p:cNvPr>
              <p:cNvSpPr/>
              <p:nvPr/>
            </p:nvSpPr>
            <p:spPr>
              <a:xfrm>
                <a:off x="2655888" y="1701800"/>
                <a:ext cx="104775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5379" extrusionOk="0">
                    <a:moveTo>
                      <a:pt x="2292" y="2362"/>
                    </a:moveTo>
                    <a:cubicBezTo>
                      <a:pt x="2506" y="2362"/>
                      <a:pt x="2680" y="2189"/>
                      <a:pt x="2680" y="1975"/>
                    </a:cubicBezTo>
                    <a:lnTo>
                      <a:pt x="2680" y="1737"/>
                    </a:lnTo>
                    <a:cubicBezTo>
                      <a:pt x="2680" y="1180"/>
                      <a:pt x="2264" y="718"/>
                      <a:pt x="1727" y="645"/>
                    </a:cubicBezTo>
                    <a:lnTo>
                      <a:pt x="1727" y="387"/>
                    </a:lnTo>
                    <a:cubicBezTo>
                      <a:pt x="1727" y="174"/>
                      <a:pt x="1553" y="0"/>
                      <a:pt x="1340" y="0"/>
                    </a:cubicBezTo>
                    <a:cubicBezTo>
                      <a:pt x="1126" y="0"/>
                      <a:pt x="953" y="174"/>
                      <a:pt x="953" y="387"/>
                    </a:cubicBezTo>
                    <a:lnTo>
                      <a:pt x="953" y="665"/>
                    </a:lnTo>
                    <a:cubicBezTo>
                      <a:pt x="401" y="788"/>
                      <a:pt x="0" y="1279"/>
                      <a:pt x="0" y="1856"/>
                    </a:cubicBezTo>
                    <a:cubicBezTo>
                      <a:pt x="0" y="2529"/>
                      <a:pt x="547" y="3077"/>
                      <a:pt x="1221" y="3077"/>
                    </a:cubicBezTo>
                    <a:lnTo>
                      <a:pt x="1459" y="3077"/>
                    </a:lnTo>
                    <a:cubicBezTo>
                      <a:pt x="1705" y="3077"/>
                      <a:pt x="1905" y="3277"/>
                      <a:pt x="1905" y="3523"/>
                    </a:cubicBezTo>
                    <a:cubicBezTo>
                      <a:pt x="1905" y="3770"/>
                      <a:pt x="1705" y="3970"/>
                      <a:pt x="1459" y="3970"/>
                    </a:cubicBezTo>
                    <a:lnTo>
                      <a:pt x="1102" y="3970"/>
                    </a:lnTo>
                    <a:cubicBezTo>
                      <a:pt x="921" y="3970"/>
                      <a:pt x="774" y="3823"/>
                      <a:pt x="774" y="3642"/>
                    </a:cubicBezTo>
                    <a:cubicBezTo>
                      <a:pt x="774" y="3429"/>
                      <a:pt x="600" y="3255"/>
                      <a:pt x="387" y="3255"/>
                    </a:cubicBezTo>
                    <a:cubicBezTo>
                      <a:pt x="173" y="3255"/>
                      <a:pt x="0" y="3429"/>
                      <a:pt x="0" y="3642"/>
                    </a:cubicBezTo>
                    <a:cubicBezTo>
                      <a:pt x="0" y="4200"/>
                      <a:pt x="415" y="4661"/>
                      <a:pt x="953" y="4734"/>
                    </a:cubicBezTo>
                    <a:lnTo>
                      <a:pt x="953" y="4992"/>
                    </a:lnTo>
                    <a:cubicBezTo>
                      <a:pt x="953" y="5206"/>
                      <a:pt x="1126" y="5379"/>
                      <a:pt x="1340" y="5379"/>
                    </a:cubicBezTo>
                    <a:cubicBezTo>
                      <a:pt x="1553" y="5379"/>
                      <a:pt x="1727" y="5206"/>
                      <a:pt x="1727" y="4992"/>
                    </a:cubicBezTo>
                    <a:lnTo>
                      <a:pt x="1727" y="4714"/>
                    </a:lnTo>
                    <a:cubicBezTo>
                      <a:pt x="2278" y="4591"/>
                      <a:pt x="2679" y="4101"/>
                      <a:pt x="2679" y="3523"/>
                    </a:cubicBezTo>
                    <a:cubicBezTo>
                      <a:pt x="2679" y="2850"/>
                      <a:pt x="2132" y="2303"/>
                      <a:pt x="1459" y="2303"/>
                    </a:cubicBezTo>
                    <a:lnTo>
                      <a:pt x="1221" y="2303"/>
                    </a:lnTo>
                    <a:cubicBezTo>
                      <a:pt x="974" y="2303"/>
                      <a:pt x="774" y="2102"/>
                      <a:pt x="774" y="1856"/>
                    </a:cubicBezTo>
                    <a:cubicBezTo>
                      <a:pt x="774" y="1610"/>
                      <a:pt x="974" y="1410"/>
                      <a:pt x="1221" y="1410"/>
                    </a:cubicBezTo>
                    <a:lnTo>
                      <a:pt x="1578" y="1410"/>
                    </a:lnTo>
                    <a:cubicBezTo>
                      <a:pt x="1759" y="1410"/>
                      <a:pt x="1905" y="1556"/>
                      <a:pt x="1905" y="1737"/>
                    </a:cubicBezTo>
                    <a:lnTo>
                      <a:pt x="1905" y="1975"/>
                    </a:lnTo>
                    <a:cubicBezTo>
                      <a:pt x="1905" y="2189"/>
                      <a:pt x="2079" y="2362"/>
                      <a:pt x="2292" y="2362"/>
                    </a:cubicBezTo>
                    <a:close/>
                    <a:moveTo>
                      <a:pt x="1578" y="1112"/>
                    </a:moveTo>
                    <a:lnTo>
                      <a:pt x="1221" y="1112"/>
                    </a:lnTo>
                    <a:cubicBezTo>
                      <a:pt x="810" y="1112"/>
                      <a:pt x="476" y="1446"/>
                      <a:pt x="476" y="1856"/>
                    </a:cubicBezTo>
                    <a:cubicBezTo>
                      <a:pt x="476" y="2267"/>
                      <a:pt x="810" y="2600"/>
                      <a:pt x="1221" y="2600"/>
                    </a:cubicBezTo>
                    <a:lnTo>
                      <a:pt x="1459" y="2600"/>
                    </a:lnTo>
                    <a:cubicBezTo>
                      <a:pt x="1968" y="2600"/>
                      <a:pt x="2382" y="3014"/>
                      <a:pt x="2382" y="3523"/>
                    </a:cubicBezTo>
                    <a:cubicBezTo>
                      <a:pt x="2382" y="3994"/>
                      <a:pt x="2029" y="4389"/>
                      <a:pt x="1561" y="4441"/>
                    </a:cubicBezTo>
                    <a:cubicBezTo>
                      <a:pt x="1486" y="4449"/>
                      <a:pt x="1429" y="4513"/>
                      <a:pt x="1429" y="4589"/>
                    </a:cubicBezTo>
                    <a:lnTo>
                      <a:pt x="1429" y="4992"/>
                    </a:lnTo>
                    <a:cubicBezTo>
                      <a:pt x="1429" y="5041"/>
                      <a:pt x="1389" y="5082"/>
                      <a:pt x="1340" y="5082"/>
                    </a:cubicBezTo>
                    <a:cubicBezTo>
                      <a:pt x="1290" y="5082"/>
                      <a:pt x="1250" y="5042"/>
                      <a:pt x="1250" y="4992"/>
                    </a:cubicBezTo>
                    <a:lnTo>
                      <a:pt x="1250" y="4595"/>
                    </a:lnTo>
                    <a:cubicBezTo>
                      <a:pt x="1250" y="4513"/>
                      <a:pt x="1184" y="4446"/>
                      <a:pt x="1101" y="4446"/>
                    </a:cubicBezTo>
                    <a:cubicBezTo>
                      <a:pt x="658" y="4446"/>
                      <a:pt x="298" y="4086"/>
                      <a:pt x="298" y="3642"/>
                    </a:cubicBezTo>
                    <a:cubicBezTo>
                      <a:pt x="298" y="3593"/>
                      <a:pt x="338" y="3553"/>
                      <a:pt x="387" y="3553"/>
                    </a:cubicBezTo>
                    <a:cubicBezTo>
                      <a:pt x="436" y="3553"/>
                      <a:pt x="476" y="3593"/>
                      <a:pt x="476" y="3642"/>
                    </a:cubicBezTo>
                    <a:cubicBezTo>
                      <a:pt x="476" y="3987"/>
                      <a:pt x="757" y="4268"/>
                      <a:pt x="1102" y="4268"/>
                    </a:cubicBezTo>
                    <a:lnTo>
                      <a:pt x="1459" y="4268"/>
                    </a:lnTo>
                    <a:cubicBezTo>
                      <a:pt x="1869" y="4268"/>
                      <a:pt x="2203" y="3934"/>
                      <a:pt x="2203" y="3523"/>
                    </a:cubicBezTo>
                    <a:cubicBezTo>
                      <a:pt x="2203" y="3113"/>
                      <a:pt x="1869" y="2779"/>
                      <a:pt x="1459" y="2779"/>
                    </a:cubicBezTo>
                    <a:lnTo>
                      <a:pt x="1221" y="2779"/>
                    </a:lnTo>
                    <a:cubicBezTo>
                      <a:pt x="712" y="2779"/>
                      <a:pt x="298" y="2365"/>
                      <a:pt x="298" y="1856"/>
                    </a:cubicBezTo>
                    <a:cubicBezTo>
                      <a:pt x="298" y="1385"/>
                      <a:pt x="650" y="991"/>
                      <a:pt x="1118" y="939"/>
                    </a:cubicBezTo>
                    <a:cubicBezTo>
                      <a:pt x="1193" y="931"/>
                      <a:pt x="1250" y="867"/>
                      <a:pt x="1250" y="791"/>
                    </a:cubicBezTo>
                    <a:lnTo>
                      <a:pt x="1250" y="387"/>
                    </a:lnTo>
                    <a:cubicBezTo>
                      <a:pt x="1250" y="338"/>
                      <a:pt x="1290" y="298"/>
                      <a:pt x="1340" y="298"/>
                    </a:cubicBezTo>
                    <a:cubicBezTo>
                      <a:pt x="1389" y="298"/>
                      <a:pt x="1429" y="338"/>
                      <a:pt x="1429" y="387"/>
                    </a:cubicBezTo>
                    <a:lnTo>
                      <a:pt x="1429" y="784"/>
                    </a:lnTo>
                    <a:cubicBezTo>
                      <a:pt x="1429" y="866"/>
                      <a:pt x="1496" y="933"/>
                      <a:pt x="1578" y="933"/>
                    </a:cubicBezTo>
                    <a:cubicBezTo>
                      <a:pt x="2021" y="933"/>
                      <a:pt x="2382" y="1294"/>
                      <a:pt x="2382" y="1737"/>
                    </a:cubicBezTo>
                    <a:lnTo>
                      <a:pt x="2382" y="1975"/>
                    </a:lnTo>
                    <a:cubicBezTo>
                      <a:pt x="2382" y="2024"/>
                      <a:pt x="2342" y="2064"/>
                      <a:pt x="2292" y="2064"/>
                    </a:cubicBezTo>
                    <a:cubicBezTo>
                      <a:pt x="2243" y="2064"/>
                      <a:pt x="2203" y="2024"/>
                      <a:pt x="2203" y="1975"/>
                    </a:cubicBezTo>
                    <a:lnTo>
                      <a:pt x="2203" y="1737"/>
                    </a:lnTo>
                    <a:cubicBezTo>
                      <a:pt x="2203" y="1392"/>
                      <a:pt x="1923" y="1112"/>
                      <a:pt x="1578" y="1112"/>
                    </a:cubicBezTo>
                    <a:close/>
                    <a:moveTo>
                      <a:pt x="1578" y="111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33">
                <a:extLst>
                  <a:ext uri="{FF2B5EF4-FFF2-40B4-BE49-F238E27FC236}">
                    <a16:creationId xmlns:a16="http://schemas.microsoft.com/office/drawing/2014/main" id="{62F82BB6-8C65-4A8F-2A4F-11822A9D9C04}"/>
                  </a:ext>
                </a:extLst>
              </p:cNvPr>
              <p:cNvSpPr/>
              <p:nvPr/>
            </p:nvSpPr>
            <p:spPr>
              <a:xfrm>
                <a:off x="2632075" y="1936750"/>
                <a:ext cx="53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33">
                <a:extLst>
                  <a:ext uri="{FF2B5EF4-FFF2-40B4-BE49-F238E27FC236}">
                    <a16:creationId xmlns:a16="http://schemas.microsoft.com/office/drawing/2014/main" id="{44F5B4F3-78D5-1F66-4543-F3D1E2E249F3}"/>
                  </a:ext>
                </a:extLst>
              </p:cNvPr>
              <p:cNvSpPr/>
              <p:nvPr/>
            </p:nvSpPr>
            <p:spPr>
              <a:xfrm>
                <a:off x="2698750" y="1936750"/>
                <a:ext cx="7461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6" y="231"/>
                      <a:pt x="1886" y="149"/>
                    </a:cubicBezTo>
                    <a:cubicBezTo>
                      <a:pt x="1886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33">
                <a:extLst>
                  <a:ext uri="{FF2B5EF4-FFF2-40B4-BE49-F238E27FC236}">
                    <a16:creationId xmlns:a16="http://schemas.microsoft.com/office/drawing/2014/main" id="{B22AD5F5-BEE9-B392-AF61-81860C0DD039}"/>
                  </a:ext>
                </a:extLst>
              </p:cNvPr>
              <p:cNvSpPr/>
              <p:nvPr/>
            </p:nvSpPr>
            <p:spPr>
              <a:xfrm>
                <a:off x="2632075" y="1968500"/>
                <a:ext cx="36513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298" extrusionOk="0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33">
                <a:extLst>
                  <a:ext uri="{FF2B5EF4-FFF2-40B4-BE49-F238E27FC236}">
                    <a16:creationId xmlns:a16="http://schemas.microsoft.com/office/drawing/2014/main" id="{FDB35D54-40D7-243C-389B-D3079EF97384}"/>
                  </a:ext>
                </a:extLst>
              </p:cNvPr>
              <p:cNvSpPr/>
              <p:nvPr/>
            </p:nvSpPr>
            <p:spPr>
              <a:xfrm>
                <a:off x="2681288" y="1968500"/>
                <a:ext cx="92077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298" extrusionOk="0">
                    <a:moveTo>
                      <a:pt x="221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2213" y="298"/>
                    </a:lnTo>
                    <a:cubicBezTo>
                      <a:pt x="2295" y="298"/>
                      <a:pt x="2362" y="231"/>
                      <a:pt x="2362" y="149"/>
                    </a:cubicBezTo>
                    <a:cubicBezTo>
                      <a:pt x="2362" y="67"/>
                      <a:pt x="2295" y="0"/>
                      <a:pt x="2213" y="0"/>
                    </a:cubicBezTo>
                    <a:close/>
                    <a:moveTo>
                      <a:pt x="2213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33">
                <a:extLst>
                  <a:ext uri="{FF2B5EF4-FFF2-40B4-BE49-F238E27FC236}">
                    <a16:creationId xmlns:a16="http://schemas.microsoft.com/office/drawing/2014/main" id="{238E0B1E-C8A4-0AC4-99CA-2A9CB04BCA49}"/>
                  </a:ext>
                </a:extLst>
              </p:cNvPr>
              <p:cNvSpPr/>
              <p:nvPr/>
            </p:nvSpPr>
            <p:spPr>
              <a:xfrm>
                <a:off x="2632075" y="1998663"/>
                <a:ext cx="730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98" extrusionOk="0">
                    <a:moveTo>
                      <a:pt x="1737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737" y="298"/>
                    </a:lnTo>
                    <a:cubicBezTo>
                      <a:pt x="1819" y="298"/>
                      <a:pt x="1885" y="231"/>
                      <a:pt x="1885" y="149"/>
                    </a:cubicBezTo>
                    <a:cubicBezTo>
                      <a:pt x="1885" y="67"/>
                      <a:pt x="1819" y="0"/>
                      <a:pt x="1737" y="0"/>
                    </a:cubicBezTo>
                    <a:close/>
                    <a:moveTo>
                      <a:pt x="1737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33">
                <a:extLst>
                  <a:ext uri="{FF2B5EF4-FFF2-40B4-BE49-F238E27FC236}">
                    <a16:creationId xmlns:a16="http://schemas.microsoft.com/office/drawing/2014/main" id="{8DC20AAE-366D-FA9F-B17F-65DF20455015}"/>
                  </a:ext>
                </a:extLst>
              </p:cNvPr>
              <p:cNvSpPr/>
              <p:nvPr/>
            </p:nvSpPr>
            <p:spPr>
              <a:xfrm>
                <a:off x="2717800" y="1998663"/>
                <a:ext cx="55564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298" extrusionOk="0">
                    <a:moveTo>
                      <a:pt x="1260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1"/>
                      <a:pt x="66" y="298"/>
                      <a:pt x="149" y="298"/>
                    </a:cubicBezTo>
                    <a:lnTo>
                      <a:pt x="1260" y="298"/>
                    </a:lnTo>
                    <a:cubicBezTo>
                      <a:pt x="1342" y="298"/>
                      <a:pt x="1409" y="231"/>
                      <a:pt x="1409" y="149"/>
                    </a:cubicBezTo>
                    <a:cubicBezTo>
                      <a:pt x="1409" y="67"/>
                      <a:pt x="1342" y="0"/>
                      <a:pt x="1260" y="0"/>
                    </a:cubicBezTo>
                    <a:close/>
                    <a:moveTo>
                      <a:pt x="126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33">
                <a:extLst>
                  <a:ext uri="{FF2B5EF4-FFF2-40B4-BE49-F238E27FC236}">
                    <a16:creationId xmlns:a16="http://schemas.microsoft.com/office/drawing/2014/main" id="{29EDB6BD-10F0-D16F-3D55-2083F18678FD}"/>
                  </a:ext>
                </a:extLst>
              </p:cNvPr>
              <p:cNvSpPr/>
              <p:nvPr/>
            </p:nvSpPr>
            <p:spPr>
              <a:xfrm>
                <a:off x="2433638" y="1789113"/>
                <a:ext cx="147640" cy="49211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1251" extrusionOk="0">
                    <a:moveTo>
                      <a:pt x="36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102"/>
                    </a:lnTo>
                    <a:cubicBezTo>
                      <a:pt x="0" y="1184"/>
                      <a:pt x="67" y="1251"/>
                      <a:pt x="149" y="1251"/>
                    </a:cubicBezTo>
                    <a:lnTo>
                      <a:pt x="3643" y="1251"/>
                    </a:lnTo>
                    <a:cubicBezTo>
                      <a:pt x="3725" y="1251"/>
                      <a:pt x="3791" y="1184"/>
                      <a:pt x="3791" y="1102"/>
                    </a:cubicBezTo>
                    <a:lnTo>
                      <a:pt x="3791" y="149"/>
                    </a:lnTo>
                    <a:cubicBezTo>
                      <a:pt x="3791" y="67"/>
                      <a:pt x="3725" y="0"/>
                      <a:pt x="3643" y="0"/>
                    </a:cubicBezTo>
                    <a:close/>
                    <a:moveTo>
                      <a:pt x="3494" y="953"/>
                    </a:moveTo>
                    <a:lnTo>
                      <a:pt x="298" y="953"/>
                    </a:lnTo>
                    <a:lnTo>
                      <a:pt x="298" y="298"/>
                    </a:lnTo>
                    <a:lnTo>
                      <a:pt x="3494" y="298"/>
                    </a:lnTo>
                    <a:lnTo>
                      <a:pt x="3494" y="953"/>
                    </a:lnTo>
                    <a:close/>
                    <a:moveTo>
                      <a:pt x="3494" y="9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33">
                <a:extLst>
                  <a:ext uri="{FF2B5EF4-FFF2-40B4-BE49-F238E27FC236}">
                    <a16:creationId xmlns:a16="http://schemas.microsoft.com/office/drawing/2014/main" id="{E3009DA5-1FFE-1DBE-C54E-9448D0016091}"/>
                  </a:ext>
                </a:extLst>
              </p:cNvPr>
              <p:cNvSpPr/>
              <p:nvPr/>
            </p:nvSpPr>
            <p:spPr>
              <a:xfrm>
                <a:off x="2520950" y="1851025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20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33">
                <a:extLst>
                  <a:ext uri="{FF2B5EF4-FFF2-40B4-BE49-F238E27FC236}">
                    <a16:creationId xmlns:a16="http://schemas.microsoft.com/office/drawing/2014/main" id="{77E86A59-1660-F72C-C37D-D8C60E0F82A6}"/>
                  </a:ext>
                </a:extLst>
              </p:cNvPr>
              <p:cNvSpPr/>
              <p:nvPr/>
            </p:nvSpPr>
            <p:spPr>
              <a:xfrm>
                <a:off x="2433638" y="1851025"/>
                <a:ext cx="6191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lnTo>
                      <a:pt x="0" y="1420"/>
                    </a:lnTo>
                    <a:cubicBezTo>
                      <a:pt x="0" y="1502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2"/>
                      <a:pt x="1568" y="1420"/>
                    </a:cubicBezTo>
                    <a:lnTo>
                      <a:pt x="1568" y="149"/>
                    </a:lnTo>
                    <a:cubicBezTo>
                      <a:pt x="1568" y="67"/>
                      <a:pt x="1502" y="0"/>
                      <a:pt x="1419" y="0"/>
                    </a:cubicBezTo>
                    <a:close/>
                    <a:moveTo>
                      <a:pt x="1271" y="1271"/>
                    </a:moveTo>
                    <a:lnTo>
                      <a:pt x="298" y="1271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1"/>
                    </a:lnTo>
                    <a:close/>
                    <a:moveTo>
                      <a:pt x="1271" y="127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33">
                <a:extLst>
                  <a:ext uri="{FF2B5EF4-FFF2-40B4-BE49-F238E27FC236}">
                    <a16:creationId xmlns:a16="http://schemas.microsoft.com/office/drawing/2014/main" id="{6FC180C2-80A7-325A-F6A1-1E3C48D80826}"/>
                  </a:ext>
                </a:extLst>
              </p:cNvPr>
              <p:cNvSpPr/>
              <p:nvPr/>
            </p:nvSpPr>
            <p:spPr>
              <a:xfrm>
                <a:off x="2520950" y="1924050"/>
                <a:ext cx="603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20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20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20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33">
                <a:extLst>
                  <a:ext uri="{FF2B5EF4-FFF2-40B4-BE49-F238E27FC236}">
                    <a16:creationId xmlns:a16="http://schemas.microsoft.com/office/drawing/2014/main" id="{2664F14F-A496-E474-9952-1DC7C94FCD1D}"/>
                  </a:ext>
                </a:extLst>
              </p:cNvPr>
              <p:cNvSpPr/>
              <p:nvPr/>
            </p:nvSpPr>
            <p:spPr>
              <a:xfrm>
                <a:off x="2433638" y="192405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1419" y="0"/>
                    </a:moveTo>
                    <a:lnTo>
                      <a:pt x="149" y="0"/>
                    </a:lnTo>
                    <a:cubicBezTo>
                      <a:pt x="67" y="0"/>
                      <a:pt x="0" y="66"/>
                      <a:pt x="0" y="149"/>
                    </a:cubicBezTo>
                    <a:lnTo>
                      <a:pt x="0" y="1419"/>
                    </a:lnTo>
                    <a:cubicBezTo>
                      <a:pt x="0" y="1501"/>
                      <a:pt x="67" y="1568"/>
                      <a:pt x="149" y="1568"/>
                    </a:cubicBezTo>
                    <a:lnTo>
                      <a:pt x="1419" y="1568"/>
                    </a:lnTo>
                    <a:cubicBezTo>
                      <a:pt x="1502" y="1568"/>
                      <a:pt x="1568" y="1501"/>
                      <a:pt x="1568" y="1419"/>
                    </a:cubicBezTo>
                    <a:lnTo>
                      <a:pt x="1568" y="149"/>
                    </a:lnTo>
                    <a:cubicBezTo>
                      <a:pt x="1568" y="66"/>
                      <a:pt x="1502" y="0"/>
                      <a:pt x="1419" y="0"/>
                    </a:cubicBezTo>
                    <a:close/>
                    <a:moveTo>
                      <a:pt x="1271" y="1270"/>
                    </a:moveTo>
                    <a:lnTo>
                      <a:pt x="298" y="1270"/>
                    </a:lnTo>
                    <a:lnTo>
                      <a:pt x="298" y="298"/>
                    </a:lnTo>
                    <a:lnTo>
                      <a:pt x="1271" y="298"/>
                    </a:lnTo>
                    <a:lnTo>
                      <a:pt x="1271" y="1270"/>
                    </a:lnTo>
                    <a:close/>
                    <a:moveTo>
                      <a:pt x="1271" y="12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33">
                <a:extLst>
                  <a:ext uri="{FF2B5EF4-FFF2-40B4-BE49-F238E27FC236}">
                    <a16:creationId xmlns:a16="http://schemas.microsoft.com/office/drawing/2014/main" id="{7FEBD8AD-1428-FABD-7A8E-B2042D3C6450}"/>
                  </a:ext>
                </a:extLst>
              </p:cNvPr>
              <p:cNvSpPr/>
              <p:nvPr/>
            </p:nvSpPr>
            <p:spPr>
              <a:xfrm>
                <a:off x="2452688" y="1868488"/>
                <a:ext cx="23813" cy="2539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15" extrusionOk="0">
                    <a:moveTo>
                      <a:pt x="466" y="158"/>
                    </a:moveTo>
                    <a:lnTo>
                      <a:pt x="456" y="158"/>
                    </a:lnTo>
                    <a:lnTo>
                      <a:pt x="456" y="149"/>
                    </a:lnTo>
                    <a:cubicBezTo>
                      <a:pt x="456" y="66"/>
                      <a:pt x="390" y="0"/>
                      <a:pt x="307" y="0"/>
                    </a:cubicBezTo>
                    <a:cubicBezTo>
                      <a:pt x="225" y="0"/>
                      <a:pt x="158" y="66"/>
                      <a:pt x="158" y="149"/>
                    </a:cubicBezTo>
                    <a:lnTo>
                      <a:pt x="158" y="158"/>
                    </a:lnTo>
                    <a:lnTo>
                      <a:pt x="148" y="158"/>
                    </a:lnTo>
                    <a:cubicBezTo>
                      <a:pt x="66" y="158"/>
                      <a:pt x="0" y="225"/>
                      <a:pt x="0" y="307"/>
                    </a:cubicBezTo>
                    <a:cubicBezTo>
                      <a:pt x="0" y="390"/>
                      <a:pt x="66" y="456"/>
                      <a:pt x="148" y="456"/>
                    </a:cubicBezTo>
                    <a:lnTo>
                      <a:pt x="158" y="456"/>
                    </a:lnTo>
                    <a:lnTo>
                      <a:pt x="158" y="466"/>
                    </a:lnTo>
                    <a:cubicBezTo>
                      <a:pt x="158" y="548"/>
                      <a:pt x="225" y="615"/>
                      <a:pt x="307" y="615"/>
                    </a:cubicBezTo>
                    <a:cubicBezTo>
                      <a:pt x="390" y="615"/>
                      <a:pt x="456" y="548"/>
                      <a:pt x="456" y="466"/>
                    </a:cubicBezTo>
                    <a:lnTo>
                      <a:pt x="456" y="456"/>
                    </a:lnTo>
                    <a:lnTo>
                      <a:pt x="466" y="456"/>
                    </a:lnTo>
                    <a:cubicBezTo>
                      <a:pt x="548" y="456"/>
                      <a:pt x="615" y="389"/>
                      <a:pt x="615" y="307"/>
                    </a:cubicBezTo>
                    <a:cubicBezTo>
                      <a:pt x="615" y="225"/>
                      <a:pt x="548" y="158"/>
                      <a:pt x="466" y="158"/>
                    </a:cubicBezTo>
                    <a:close/>
                    <a:moveTo>
                      <a:pt x="466" y="1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33">
                <a:extLst>
                  <a:ext uri="{FF2B5EF4-FFF2-40B4-BE49-F238E27FC236}">
                    <a16:creationId xmlns:a16="http://schemas.microsoft.com/office/drawing/2014/main" id="{783EC805-5FAC-D48C-9B3B-5E408E2FF4FE}"/>
                  </a:ext>
                </a:extLst>
              </p:cNvPr>
              <p:cNvSpPr/>
              <p:nvPr/>
            </p:nvSpPr>
            <p:spPr>
              <a:xfrm>
                <a:off x="2538413" y="1874838"/>
                <a:ext cx="2381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98" extrusionOk="0">
                    <a:moveTo>
                      <a:pt x="466" y="0"/>
                    </a:moveTo>
                    <a:lnTo>
                      <a:pt x="149" y="0"/>
                    </a:lnTo>
                    <a:cubicBezTo>
                      <a:pt x="66" y="0"/>
                      <a:pt x="0" y="67"/>
                      <a:pt x="0" y="149"/>
                    </a:cubicBezTo>
                    <a:cubicBezTo>
                      <a:pt x="0" y="232"/>
                      <a:pt x="66" y="298"/>
                      <a:pt x="149" y="298"/>
                    </a:cubicBezTo>
                    <a:lnTo>
                      <a:pt x="466" y="298"/>
                    </a:lnTo>
                    <a:cubicBezTo>
                      <a:pt x="548" y="298"/>
                      <a:pt x="615" y="231"/>
                      <a:pt x="615" y="149"/>
                    </a:cubicBezTo>
                    <a:cubicBezTo>
                      <a:pt x="615" y="67"/>
                      <a:pt x="548" y="0"/>
                      <a:pt x="466" y="0"/>
                    </a:cubicBezTo>
                    <a:close/>
                    <a:moveTo>
                      <a:pt x="466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33">
                <a:extLst>
                  <a:ext uri="{FF2B5EF4-FFF2-40B4-BE49-F238E27FC236}">
                    <a16:creationId xmlns:a16="http://schemas.microsoft.com/office/drawing/2014/main" id="{F87480BE-6BE7-4E2E-CEBA-589C20E9B0A9}"/>
                  </a:ext>
                </a:extLst>
              </p:cNvPr>
              <p:cNvSpPr/>
              <p:nvPr/>
            </p:nvSpPr>
            <p:spPr>
              <a:xfrm>
                <a:off x="2452688" y="1943100"/>
                <a:ext cx="23813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29" extrusionOk="0">
                    <a:moveTo>
                      <a:pt x="533" y="322"/>
                    </a:moveTo>
                    <a:lnTo>
                      <a:pt x="586" y="268"/>
                    </a:lnTo>
                    <a:cubicBezTo>
                      <a:pt x="645" y="210"/>
                      <a:pt x="645" y="116"/>
                      <a:pt x="586" y="58"/>
                    </a:cubicBezTo>
                    <a:cubicBezTo>
                      <a:pt x="528" y="0"/>
                      <a:pt x="434" y="0"/>
                      <a:pt x="376" y="58"/>
                    </a:cubicBezTo>
                    <a:lnTo>
                      <a:pt x="322" y="111"/>
                    </a:lnTo>
                    <a:lnTo>
                      <a:pt x="269" y="58"/>
                    </a:lnTo>
                    <a:cubicBezTo>
                      <a:pt x="211" y="0"/>
                      <a:pt x="116" y="0"/>
                      <a:pt x="58" y="58"/>
                    </a:cubicBezTo>
                    <a:cubicBezTo>
                      <a:pt x="0" y="116"/>
                      <a:pt x="0" y="210"/>
                      <a:pt x="58" y="268"/>
                    </a:cubicBezTo>
                    <a:lnTo>
                      <a:pt x="112" y="322"/>
                    </a:lnTo>
                    <a:lnTo>
                      <a:pt x="58" y="375"/>
                    </a:lnTo>
                    <a:cubicBezTo>
                      <a:pt x="0" y="433"/>
                      <a:pt x="0" y="528"/>
                      <a:pt x="58" y="586"/>
                    </a:cubicBezTo>
                    <a:cubicBezTo>
                      <a:pt x="87" y="615"/>
                      <a:pt x="125" y="629"/>
                      <a:pt x="163" y="629"/>
                    </a:cubicBezTo>
                    <a:cubicBezTo>
                      <a:pt x="202" y="629"/>
                      <a:pt x="240" y="615"/>
                      <a:pt x="269" y="586"/>
                    </a:cubicBezTo>
                    <a:lnTo>
                      <a:pt x="322" y="532"/>
                    </a:lnTo>
                    <a:lnTo>
                      <a:pt x="376" y="586"/>
                    </a:lnTo>
                    <a:cubicBezTo>
                      <a:pt x="405" y="615"/>
                      <a:pt x="443" y="629"/>
                      <a:pt x="481" y="629"/>
                    </a:cubicBezTo>
                    <a:cubicBezTo>
                      <a:pt x="519" y="629"/>
                      <a:pt x="557" y="615"/>
                      <a:pt x="586" y="586"/>
                    </a:cubicBezTo>
                    <a:cubicBezTo>
                      <a:pt x="644" y="528"/>
                      <a:pt x="644" y="433"/>
                      <a:pt x="586" y="375"/>
                    </a:cubicBezTo>
                    <a:lnTo>
                      <a:pt x="533" y="322"/>
                    </a:lnTo>
                    <a:close/>
                    <a:moveTo>
                      <a:pt x="533" y="32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33">
                <a:extLst>
                  <a:ext uri="{FF2B5EF4-FFF2-40B4-BE49-F238E27FC236}">
                    <a16:creationId xmlns:a16="http://schemas.microsoft.com/office/drawing/2014/main" id="{96AED26F-7044-495D-D0A5-A0F97A944820}"/>
                  </a:ext>
                </a:extLst>
              </p:cNvPr>
              <p:cNvSpPr/>
              <p:nvPr/>
            </p:nvSpPr>
            <p:spPr>
              <a:xfrm>
                <a:off x="2536825" y="1943100"/>
                <a:ext cx="2698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29" extrusionOk="0">
                    <a:moveTo>
                      <a:pt x="619" y="58"/>
                    </a:moveTo>
                    <a:cubicBezTo>
                      <a:pt x="561" y="0"/>
                      <a:pt x="467" y="0"/>
                      <a:pt x="409" y="58"/>
                    </a:cubicBezTo>
                    <a:lnTo>
                      <a:pt x="91" y="375"/>
                    </a:lnTo>
                    <a:cubicBezTo>
                      <a:pt x="0" y="467"/>
                      <a:pt x="66" y="629"/>
                      <a:pt x="197" y="629"/>
                    </a:cubicBezTo>
                    <a:cubicBezTo>
                      <a:pt x="235" y="629"/>
                      <a:pt x="273" y="615"/>
                      <a:pt x="302" y="586"/>
                    </a:cubicBezTo>
                    <a:lnTo>
                      <a:pt x="619" y="268"/>
                    </a:lnTo>
                    <a:cubicBezTo>
                      <a:pt x="678" y="210"/>
                      <a:pt x="678" y="116"/>
                      <a:pt x="619" y="58"/>
                    </a:cubicBezTo>
                    <a:close/>
                    <a:moveTo>
                      <a:pt x="619" y="58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F787E16-898C-2E69-211B-3E438404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042" y="1000487"/>
            <a:ext cx="4585916" cy="362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0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>
          <a:extLst>
            <a:ext uri="{FF2B5EF4-FFF2-40B4-BE49-F238E27FC236}">
              <a16:creationId xmlns:a16="http://schemas.microsoft.com/office/drawing/2014/main" id="{44940A49-89B9-43ED-DF21-D48FD53C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33">
            <a:extLst>
              <a:ext uri="{FF2B5EF4-FFF2-40B4-BE49-F238E27FC236}">
                <a16:creationId xmlns:a16="http://schemas.microsoft.com/office/drawing/2014/main" id="{E8A19C62-6705-36E3-4649-B6A56D63E5A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71430" y="357908"/>
            <a:ext cx="3761673" cy="373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600" dirty="0"/>
              <a:t>Developing customer segments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57603D-B462-3E9D-C37F-6CA2F355ED3F}"/>
              </a:ext>
            </a:extLst>
          </p:cNvPr>
          <p:cNvGrpSpPr/>
          <p:nvPr/>
        </p:nvGrpSpPr>
        <p:grpSpPr>
          <a:xfrm>
            <a:off x="136635" y="219120"/>
            <a:ext cx="634500" cy="634500"/>
            <a:chOff x="3511183" y="1993516"/>
            <a:chExt cx="634500" cy="634500"/>
          </a:xfrm>
        </p:grpSpPr>
        <p:sp>
          <p:nvSpPr>
            <p:cNvPr id="2265" name="Google Shape;2265;p33">
              <a:extLst>
                <a:ext uri="{FF2B5EF4-FFF2-40B4-BE49-F238E27FC236}">
                  <a16:creationId xmlns:a16="http://schemas.microsoft.com/office/drawing/2014/main" id="{048B3F12-541E-CDD6-07B2-2056B0252943}"/>
                </a:ext>
              </a:extLst>
            </p:cNvPr>
            <p:cNvSpPr/>
            <p:nvPr/>
          </p:nvSpPr>
          <p:spPr>
            <a:xfrm>
              <a:off x="3511183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0" name="Google Shape;2270;p33">
              <a:extLst>
                <a:ext uri="{FF2B5EF4-FFF2-40B4-BE49-F238E27FC236}">
                  <a16:creationId xmlns:a16="http://schemas.microsoft.com/office/drawing/2014/main" id="{9044DC2D-3526-469A-66EE-EEF1885750B5}"/>
                </a:ext>
              </a:extLst>
            </p:cNvPr>
            <p:cNvGrpSpPr/>
            <p:nvPr/>
          </p:nvGrpSpPr>
          <p:grpSpPr>
            <a:xfrm>
              <a:off x="3631643" y="2117315"/>
              <a:ext cx="393701" cy="395292"/>
              <a:chOff x="3197225" y="1658938"/>
              <a:chExt cx="393701" cy="395292"/>
            </a:xfrm>
          </p:grpSpPr>
          <p:sp>
            <p:nvSpPr>
              <p:cNvPr id="2271" name="Google Shape;2271;p33">
                <a:extLst>
                  <a:ext uri="{FF2B5EF4-FFF2-40B4-BE49-F238E27FC236}">
                    <a16:creationId xmlns:a16="http://schemas.microsoft.com/office/drawing/2014/main" id="{4487B92D-9F90-BA49-AF2F-80AEE777C138}"/>
                  </a:ext>
                </a:extLst>
              </p:cNvPr>
              <p:cNvSpPr/>
              <p:nvPr/>
            </p:nvSpPr>
            <p:spPr>
              <a:xfrm>
                <a:off x="3197225" y="1658938"/>
                <a:ext cx="393701" cy="395292"/>
              </a:xfrm>
              <a:custGeom>
                <a:avLst/>
                <a:gdLst/>
                <a:ahLst/>
                <a:cxnLst/>
                <a:rect l="l" t="t" r="r" b="b"/>
                <a:pathLst>
                  <a:path w="10143" h="10150" extrusionOk="0">
                    <a:moveTo>
                      <a:pt x="9994" y="1118"/>
                    </a:moveTo>
                    <a:lnTo>
                      <a:pt x="7017" y="1118"/>
                    </a:lnTo>
                    <a:lnTo>
                      <a:pt x="5146" y="27"/>
                    </a:lnTo>
                    <a:cubicBezTo>
                      <a:pt x="5100" y="0"/>
                      <a:pt x="5043" y="0"/>
                      <a:pt x="4996" y="27"/>
                    </a:cubicBezTo>
                    <a:lnTo>
                      <a:pt x="3125" y="1118"/>
                    </a:lnTo>
                    <a:lnTo>
                      <a:pt x="149" y="1118"/>
                    </a:lnTo>
                    <a:cubicBezTo>
                      <a:pt x="66" y="1118"/>
                      <a:pt x="0" y="1185"/>
                      <a:pt x="0" y="1267"/>
                    </a:cubicBezTo>
                    <a:lnTo>
                      <a:pt x="0" y="1902"/>
                    </a:lnTo>
                    <a:cubicBezTo>
                      <a:pt x="0" y="1984"/>
                      <a:pt x="66" y="2051"/>
                      <a:pt x="149" y="2051"/>
                    </a:cubicBezTo>
                    <a:lnTo>
                      <a:pt x="476" y="2051"/>
                    </a:lnTo>
                    <a:lnTo>
                      <a:pt x="476" y="8254"/>
                    </a:lnTo>
                    <a:cubicBezTo>
                      <a:pt x="476" y="8336"/>
                      <a:pt x="543" y="8403"/>
                      <a:pt x="625" y="8403"/>
                    </a:cubicBezTo>
                    <a:lnTo>
                      <a:pt x="4922" y="8403"/>
                    </a:lnTo>
                    <a:lnTo>
                      <a:pt x="4922" y="9852"/>
                    </a:lnTo>
                    <a:lnTo>
                      <a:pt x="4436" y="9852"/>
                    </a:lnTo>
                    <a:cubicBezTo>
                      <a:pt x="4354" y="9852"/>
                      <a:pt x="4287" y="9919"/>
                      <a:pt x="4287" y="10001"/>
                    </a:cubicBezTo>
                    <a:cubicBezTo>
                      <a:pt x="4287" y="10083"/>
                      <a:pt x="4354" y="10150"/>
                      <a:pt x="4436" y="10150"/>
                    </a:cubicBezTo>
                    <a:lnTo>
                      <a:pt x="5706" y="10150"/>
                    </a:lnTo>
                    <a:cubicBezTo>
                      <a:pt x="5789" y="10150"/>
                      <a:pt x="5855" y="10083"/>
                      <a:pt x="5855" y="10001"/>
                    </a:cubicBezTo>
                    <a:cubicBezTo>
                      <a:pt x="5855" y="9919"/>
                      <a:pt x="5789" y="9852"/>
                      <a:pt x="5706" y="9852"/>
                    </a:cubicBezTo>
                    <a:lnTo>
                      <a:pt x="5220" y="9852"/>
                    </a:lnTo>
                    <a:lnTo>
                      <a:pt x="5220" y="8403"/>
                    </a:lnTo>
                    <a:lnTo>
                      <a:pt x="9518" y="8403"/>
                    </a:lnTo>
                    <a:cubicBezTo>
                      <a:pt x="9600" y="8403"/>
                      <a:pt x="9666" y="8336"/>
                      <a:pt x="9666" y="8254"/>
                    </a:cubicBezTo>
                    <a:lnTo>
                      <a:pt x="9666" y="2051"/>
                    </a:lnTo>
                    <a:lnTo>
                      <a:pt x="9994" y="2051"/>
                    </a:lnTo>
                    <a:cubicBezTo>
                      <a:pt x="10076" y="2051"/>
                      <a:pt x="10143" y="1984"/>
                      <a:pt x="10143" y="1902"/>
                    </a:cubicBezTo>
                    <a:lnTo>
                      <a:pt x="10143" y="1267"/>
                    </a:lnTo>
                    <a:cubicBezTo>
                      <a:pt x="10143" y="1185"/>
                      <a:pt x="10076" y="1118"/>
                      <a:pt x="9994" y="1118"/>
                    </a:cubicBezTo>
                    <a:close/>
                    <a:moveTo>
                      <a:pt x="5071" y="328"/>
                    </a:moveTo>
                    <a:lnTo>
                      <a:pt x="6426" y="1118"/>
                    </a:lnTo>
                    <a:lnTo>
                      <a:pt x="3716" y="1118"/>
                    </a:lnTo>
                    <a:lnTo>
                      <a:pt x="5071" y="328"/>
                    </a:lnTo>
                    <a:close/>
                    <a:moveTo>
                      <a:pt x="9845" y="1753"/>
                    </a:moveTo>
                    <a:lnTo>
                      <a:pt x="8327" y="1753"/>
                    </a:lnTo>
                    <a:cubicBezTo>
                      <a:pt x="8244" y="1753"/>
                      <a:pt x="8178" y="1820"/>
                      <a:pt x="8178" y="1902"/>
                    </a:cubicBezTo>
                    <a:cubicBezTo>
                      <a:pt x="8178" y="1984"/>
                      <a:pt x="8244" y="2051"/>
                      <a:pt x="8327" y="2051"/>
                    </a:cubicBezTo>
                    <a:lnTo>
                      <a:pt x="9369" y="2051"/>
                    </a:lnTo>
                    <a:lnTo>
                      <a:pt x="9369" y="8105"/>
                    </a:lnTo>
                    <a:lnTo>
                      <a:pt x="774" y="8105"/>
                    </a:lnTo>
                    <a:lnTo>
                      <a:pt x="774" y="2051"/>
                    </a:lnTo>
                    <a:lnTo>
                      <a:pt x="7639" y="2051"/>
                    </a:lnTo>
                    <a:cubicBezTo>
                      <a:pt x="7721" y="2051"/>
                      <a:pt x="7787" y="1984"/>
                      <a:pt x="7787" y="1902"/>
                    </a:cubicBezTo>
                    <a:cubicBezTo>
                      <a:pt x="7787" y="1820"/>
                      <a:pt x="7721" y="1753"/>
                      <a:pt x="7639" y="1753"/>
                    </a:cubicBezTo>
                    <a:lnTo>
                      <a:pt x="298" y="1753"/>
                    </a:lnTo>
                    <a:lnTo>
                      <a:pt x="298" y="1416"/>
                    </a:lnTo>
                    <a:lnTo>
                      <a:pt x="9845" y="1416"/>
                    </a:lnTo>
                    <a:lnTo>
                      <a:pt x="9845" y="1753"/>
                    </a:lnTo>
                    <a:lnTo>
                      <a:pt x="9845" y="1753"/>
                    </a:lnTo>
                    <a:close/>
                    <a:moveTo>
                      <a:pt x="9845" y="1753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33">
                <a:extLst>
                  <a:ext uri="{FF2B5EF4-FFF2-40B4-BE49-F238E27FC236}">
                    <a16:creationId xmlns:a16="http://schemas.microsoft.com/office/drawing/2014/main" id="{F5601F40-774B-4EC5-6EE7-90E8338404A0}"/>
                  </a:ext>
                </a:extLst>
              </p:cNvPr>
              <p:cNvSpPr/>
              <p:nvPr/>
            </p:nvSpPr>
            <p:spPr>
              <a:xfrm>
                <a:off x="3263900" y="1752600"/>
                <a:ext cx="111122" cy="109536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9" extrusionOk="0">
                    <a:moveTo>
                      <a:pt x="1419" y="0"/>
                    </a:moveTo>
                    <a:cubicBezTo>
                      <a:pt x="636" y="0"/>
                      <a:pt x="0" y="637"/>
                      <a:pt x="0" y="1420"/>
                    </a:cubicBezTo>
                    <a:cubicBezTo>
                      <a:pt x="0" y="2202"/>
                      <a:pt x="636" y="2839"/>
                      <a:pt x="1419" y="2839"/>
                    </a:cubicBezTo>
                    <a:cubicBezTo>
                      <a:pt x="2201" y="2839"/>
                      <a:pt x="2838" y="2202"/>
                      <a:pt x="2838" y="1420"/>
                    </a:cubicBezTo>
                    <a:cubicBezTo>
                      <a:pt x="2838" y="637"/>
                      <a:pt x="2201" y="0"/>
                      <a:pt x="1419" y="0"/>
                    </a:cubicBezTo>
                    <a:close/>
                    <a:moveTo>
                      <a:pt x="1419" y="2541"/>
                    </a:moveTo>
                    <a:cubicBezTo>
                      <a:pt x="800" y="2541"/>
                      <a:pt x="297" y="2038"/>
                      <a:pt x="297" y="1420"/>
                    </a:cubicBezTo>
                    <a:cubicBezTo>
                      <a:pt x="297" y="801"/>
                      <a:pt x="800" y="298"/>
                      <a:pt x="1419" y="298"/>
                    </a:cubicBezTo>
                    <a:cubicBezTo>
                      <a:pt x="2037" y="298"/>
                      <a:pt x="2540" y="801"/>
                      <a:pt x="2540" y="1420"/>
                    </a:cubicBezTo>
                    <a:cubicBezTo>
                      <a:pt x="2540" y="2038"/>
                      <a:pt x="2037" y="2541"/>
                      <a:pt x="1419" y="2541"/>
                    </a:cubicBezTo>
                    <a:close/>
                    <a:moveTo>
                      <a:pt x="1419" y="254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33">
                <a:extLst>
                  <a:ext uri="{FF2B5EF4-FFF2-40B4-BE49-F238E27FC236}">
                    <a16:creationId xmlns:a16="http://schemas.microsoft.com/office/drawing/2014/main" id="{4C6155D3-499A-89ED-8B56-D969B45A2058}"/>
                  </a:ext>
                </a:extLst>
              </p:cNvPr>
              <p:cNvSpPr/>
              <p:nvPr/>
            </p:nvSpPr>
            <p:spPr>
              <a:xfrm>
                <a:off x="3433763" y="1868488"/>
                <a:ext cx="93660" cy="93660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434" extrusionOk="0">
                    <a:moveTo>
                      <a:pt x="1766" y="1217"/>
                    </a:moveTo>
                    <a:lnTo>
                      <a:pt x="2286" y="696"/>
                    </a:lnTo>
                    <a:cubicBezTo>
                      <a:pt x="2437" y="545"/>
                      <a:pt x="2437" y="300"/>
                      <a:pt x="2286" y="149"/>
                    </a:cubicBezTo>
                    <a:cubicBezTo>
                      <a:pt x="2137" y="0"/>
                      <a:pt x="1888" y="0"/>
                      <a:pt x="1739" y="149"/>
                    </a:cubicBezTo>
                    <a:lnTo>
                      <a:pt x="1218" y="669"/>
                    </a:lnTo>
                    <a:lnTo>
                      <a:pt x="698" y="149"/>
                    </a:lnTo>
                    <a:cubicBezTo>
                      <a:pt x="549" y="0"/>
                      <a:pt x="300" y="0"/>
                      <a:pt x="151" y="149"/>
                    </a:cubicBezTo>
                    <a:cubicBezTo>
                      <a:pt x="0" y="300"/>
                      <a:pt x="0" y="545"/>
                      <a:pt x="151" y="696"/>
                    </a:cubicBezTo>
                    <a:lnTo>
                      <a:pt x="671" y="1217"/>
                    </a:lnTo>
                    <a:lnTo>
                      <a:pt x="151" y="1737"/>
                    </a:lnTo>
                    <a:cubicBezTo>
                      <a:pt x="0" y="1888"/>
                      <a:pt x="0" y="2133"/>
                      <a:pt x="151" y="2284"/>
                    </a:cubicBezTo>
                    <a:cubicBezTo>
                      <a:pt x="300" y="2434"/>
                      <a:pt x="549" y="2434"/>
                      <a:pt x="698" y="2284"/>
                    </a:cubicBezTo>
                    <a:lnTo>
                      <a:pt x="1218" y="1764"/>
                    </a:lnTo>
                    <a:lnTo>
                      <a:pt x="1739" y="2284"/>
                    </a:lnTo>
                    <a:cubicBezTo>
                      <a:pt x="1888" y="2434"/>
                      <a:pt x="2137" y="2434"/>
                      <a:pt x="2286" y="2284"/>
                    </a:cubicBezTo>
                    <a:cubicBezTo>
                      <a:pt x="2437" y="2133"/>
                      <a:pt x="2437" y="1888"/>
                      <a:pt x="2286" y="1737"/>
                    </a:cubicBezTo>
                    <a:lnTo>
                      <a:pt x="1766" y="1217"/>
                    </a:lnTo>
                    <a:close/>
                    <a:moveTo>
                      <a:pt x="2079" y="2070"/>
                    </a:moveTo>
                    <a:cubicBezTo>
                      <a:pt x="2046" y="2108"/>
                      <a:pt x="1985" y="2110"/>
                      <a:pt x="1949" y="2074"/>
                    </a:cubicBezTo>
                    <a:lnTo>
                      <a:pt x="1324" y="1448"/>
                    </a:lnTo>
                    <a:cubicBezTo>
                      <a:pt x="1266" y="1391"/>
                      <a:pt x="1171" y="1391"/>
                      <a:pt x="1113" y="1448"/>
                    </a:cubicBezTo>
                    <a:lnTo>
                      <a:pt x="488" y="2074"/>
                    </a:lnTo>
                    <a:cubicBezTo>
                      <a:pt x="452" y="2110"/>
                      <a:pt x="391" y="2108"/>
                      <a:pt x="357" y="2070"/>
                    </a:cubicBezTo>
                    <a:cubicBezTo>
                      <a:pt x="327" y="2035"/>
                      <a:pt x="328" y="1980"/>
                      <a:pt x="361" y="1947"/>
                    </a:cubicBezTo>
                    <a:lnTo>
                      <a:pt x="987" y="1322"/>
                    </a:lnTo>
                    <a:cubicBezTo>
                      <a:pt x="1045" y="1264"/>
                      <a:pt x="1045" y="1170"/>
                      <a:pt x="987" y="1111"/>
                    </a:cubicBezTo>
                    <a:lnTo>
                      <a:pt x="361" y="486"/>
                    </a:lnTo>
                    <a:cubicBezTo>
                      <a:pt x="328" y="453"/>
                      <a:pt x="327" y="399"/>
                      <a:pt x="357" y="364"/>
                    </a:cubicBezTo>
                    <a:cubicBezTo>
                      <a:pt x="391" y="325"/>
                      <a:pt x="452" y="324"/>
                      <a:pt x="488" y="359"/>
                    </a:cubicBezTo>
                    <a:lnTo>
                      <a:pt x="1113" y="985"/>
                    </a:lnTo>
                    <a:cubicBezTo>
                      <a:pt x="1171" y="1043"/>
                      <a:pt x="1266" y="1043"/>
                      <a:pt x="1324" y="985"/>
                    </a:cubicBezTo>
                    <a:lnTo>
                      <a:pt x="1949" y="359"/>
                    </a:lnTo>
                    <a:cubicBezTo>
                      <a:pt x="1985" y="324"/>
                      <a:pt x="2046" y="326"/>
                      <a:pt x="2079" y="364"/>
                    </a:cubicBezTo>
                    <a:cubicBezTo>
                      <a:pt x="2110" y="398"/>
                      <a:pt x="2108" y="453"/>
                      <a:pt x="2076" y="486"/>
                    </a:cubicBezTo>
                    <a:lnTo>
                      <a:pt x="1450" y="1111"/>
                    </a:lnTo>
                    <a:cubicBezTo>
                      <a:pt x="1392" y="1170"/>
                      <a:pt x="1392" y="1264"/>
                      <a:pt x="1450" y="1322"/>
                    </a:cubicBezTo>
                    <a:lnTo>
                      <a:pt x="2076" y="1947"/>
                    </a:lnTo>
                    <a:cubicBezTo>
                      <a:pt x="2108" y="1980"/>
                      <a:pt x="2110" y="2035"/>
                      <a:pt x="2079" y="2070"/>
                    </a:cubicBezTo>
                    <a:close/>
                    <a:moveTo>
                      <a:pt x="2079" y="207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33">
                <a:extLst>
                  <a:ext uri="{FF2B5EF4-FFF2-40B4-BE49-F238E27FC236}">
                    <a16:creationId xmlns:a16="http://schemas.microsoft.com/office/drawing/2014/main" id="{1DC55EEF-458B-877B-7FAC-1AF00D5608B8}"/>
                  </a:ext>
                </a:extLst>
              </p:cNvPr>
              <p:cNvSpPr/>
              <p:nvPr/>
            </p:nvSpPr>
            <p:spPr>
              <a:xfrm>
                <a:off x="3263900" y="1776413"/>
                <a:ext cx="266704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6825" h="3810" extrusionOk="0">
                    <a:moveTo>
                      <a:pt x="6752" y="686"/>
                    </a:moveTo>
                    <a:lnTo>
                      <a:pt x="5958" y="51"/>
                    </a:lnTo>
                    <a:cubicBezTo>
                      <a:pt x="5894" y="0"/>
                      <a:pt x="5800" y="10"/>
                      <a:pt x="5749" y="75"/>
                    </a:cubicBezTo>
                    <a:cubicBezTo>
                      <a:pt x="5697" y="139"/>
                      <a:pt x="5708" y="232"/>
                      <a:pt x="5772" y="284"/>
                    </a:cubicBezTo>
                    <a:lnTo>
                      <a:pt x="6235" y="654"/>
                    </a:lnTo>
                    <a:lnTo>
                      <a:pt x="4277" y="654"/>
                    </a:lnTo>
                    <a:cubicBezTo>
                      <a:pt x="3845" y="654"/>
                      <a:pt x="3493" y="1006"/>
                      <a:pt x="3493" y="1438"/>
                    </a:cubicBezTo>
                    <a:lnTo>
                      <a:pt x="3493" y="3026"/>
                    </a:lnTo>
                    <a:cubicBezTo>
                      <a:pt x="3493" y="3294"/>
                      <a:pt x="3275" y="3512"/>
                      <a:pt x="3007" y="3512"/>
                    </a:cubicBezTo>
                    <a:lnTo>
                      <a:pt x="148" y="3512"/>
                    </a:lnTo>
                    <a:cubicBezTo>
                      <a:pt x="66" y="3512"/>
                      <a:pt x="0" y="3579"/>
                      <a:pt x="0" y="3661"/>
                    </a:cubicBezTo>
                    <a:cubicBezTo>
                      <a:pt x="0" y="3743"/>
                      <a:pt x="66" y="3810"/>
                      <a:pt x="148" y="3810"/>
                    </a:cubicBezTo>
                    <a:lnTo>
                      <a:pt x="3007" y="3810"/>
                    </a:lnTo>
                    <a:cubicBezTo>
                      <a:pt x="3439" y="3810"/>
                      <a:pt x="3791" y="3458"/>
                      <a:pt x="3791" y="3026"/>
                    </a:cubicBezTo>
                    <a:lnTo>
                      <a:pt x="3791" y="1438"/>
                    </a:lnTo>
                    <a:cubicBezTo>
                      <a:pt x="3791" y="1170"/>
                      <a:pt x="4009" y="952"/>
                      <a:pt x="4277" y="952"/>
                    </a:cubicBezTo>
                    <a:lnTo>
                      <a:pt x="6235" y="952"/>
                    </a:lnTo>
                    <a:lnTo>
                      <a:pt x="5772" y="1322"/>
                    </a:lnTo>
                    <a:cubicBezTo>
                      <a:pt x="5714" y="1368"/>
                      <a:pt x="5699" y="1454"/>
                      <a:pt x="5739" y="1517"/>
                    </a:cubicBezTo>
                    <a:cubicBezTo>
                      <a:pt x="5786" y="1591"/>
                      <a:pt x="5889" y="1609"/>
                      <a:pt x="5958" y="1554"/>
                    </a:cubicBezTo>
                    <a:lnTo>
                      <a:pt x="6752" y="919"/>
                    </a:lnTo>
                    <a:cubicBezTo>
                      <a:pt x="6825" y="860"/>
                      <a:pt x="6825" y="745"/>
                      <a:pt x="6752" y="686"/>
                    </a:cubicBezTo>
                    <a:close/>
                    <a:moveTo>
                      <a:pt x="6752" y="686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" name="Google Shape;2260;p33">
            <a:extLst>
              <a:ext uri="{FF2B5EF4-FFF2-40B4-BE49-F238E27FC236}">
                <a16:creationId xmlns:a16="http://schemas.microsoft.com/office/drawing/2014/main" id="{EE11E4DB-5BDD-5D89-9EAA-D86E3AA5D286}"/>
              </a:ext>
            </a:extLst>
          </p:cNvPr>
          <p:cNvSpPr txBox="1">
            <a:spLocks/>
          </p:cNvSpPr>
          <p:nvPr/>
        </p:nvSpPr>
        <p:spPr>
          <a:xfrm>
            <a:off x="887334" y="625600"/>
            <a:ext cx="3330758" cy="48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Segment customers into groups based on behavioral analysis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endParaRPr lang="en-US" sz="12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E8606B-31DB-182E-FA19-B1B266E28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983" y="1246018"/>
            <a:ext cx="5222240" cy="35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1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>
          <a:extLst>
            <a:ext uri="{FF2B5EF4-FFF2-40B4-BE49-F238E27FC236}">
              <a16:creationId xmlns:a16="http://schemas.microsoft.com/office/drawing/2014/main" id="{84A407B8-9C68-8934-F0A6-3C555777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33">
            <a:extLst>
              <a:ext uri="{FF2B5EF4-FFF2-40B4-BE49-F238E27FC236}">
                <a16:creationId xmlns:a16="http://schemas.microsoft.com/office/drawing/2014/main" id="{F8D6EA9A-4642-45A8-DF08-6A354BDE3CE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279145" y="374268"/>
            <a:ext cx="272275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600" dirty="0"/>
              <a:t>Proposal for company X</a:t>
            </a:r>
            <a:endParaRPr sz="1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111826-E513-1552-BEFC-09C67BC99286}"/>
              </a:ext>
            </a:extLst>
          </p:cNvPr>
          <p:cNvGrpSpPr/>
          <p:nvPr/>
        </p:nvGrpSpPr>
        <p:grpSpPr>
          <a:xfrm>
            <a:off x="2536394" y="288913"/>
            <a:ext cx="634500" cy="634500"/>
            <a:chOff x="6152027" y="1993516"/>
            <a:chExt cx="634500" cy="634500"/>
          </a:xfrm>
        </p:grpSpPr>
        <p:sp>
          <p:nvSpPr>
            <p:cNvPr id="2266" name="Google Shape;2266;p33">
              <a:extLst>
                <a:ext uri="{FF2B5EF4-FFF2-40B4-BE49-F238E27FC236}">
                  <a16:creationId xmlns:a16="http://schemas.microsoft.com/office/drawing/2014/main" id="{AC00DF21-D9D5-CB2E-0F12-5CECBDF39C22}"/>
                </a:ext>
              </a:extLst>
            </p:cNvPr>
            <p:cNvSpPr/>
            <p:nvPr/>
          </p:nvSpPr>
          <p:spPr>
            <a:xfrm>
              <a:off x="6152027" y="1993516"/>
              <a:ext cx="634500" cy="6345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7" name="Google Shape;2267;p33">
              <a:extLst>
                <a:ext uri="{FF2B5EF4-FFF2-40B4-BE49-F238E27FC236}">
                  <a16:creationId xmlns:a16="http://schemas.microsoft.com/office/drawing/2014/main" id="{7AD94D7A-64CC-A3E6-507D-0E5CDA93B17F}"/>
                </a:ext>
              </a:extLst>
            </p:cNvPr>
            <p:cNvGrpSpPr/>
            <p:nvPr/>
          </p:nvGrpSpPr>
          <p:grpSpPr>
            <a:xfrm>
              <a:off x="6260278" y="2107779"/>
              <a:ext cx="393700" cy="396886"/>
              <a:chOff x="3984625" y="1658938"/>
              <a:chExt cx="393700" cy="396886"/>
            </a:xfrm>
          </p:grpSpPr>
          <p:sp>
            <p:nvSpPr>
              <p:cNvPr id="2268" name="Google Shape;2268;p33">
                <a:extLst>
                  <a:ext uri="{FF2B5EF4-FFF2-40B4-BE49-F238E27FC236}">
                    <a16:creationId xmlns:a16="http://schemas.microsoft.com/office/drawing/2014/main" id="{0AC8BE0E-15FA-C3F0-6366-01C8B6F00324}"/>
                  </a:ext>
                </a:extLst>
              </p:cNvPr>
              <p:cNvSpPr/>
              <p:nvPr/>
            </p:nvSpPr>
            <p:spPr>
              <a:xfrm>
                <a:off x="4175125" y="1844675"/>
                <a:ext cx="8254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1250" extrusionOk="0">
                    <a:moveTo>
                      <a:pt x="2050" y="957"/>
                    </a:moveTo>
                    <a:lnTo>
                      <a:pt x="673" y="110"/>
                    </a:lnTo>
                    <a:cubicBezTo>
                      <a:pt x="656" y="100"/>
                      <a:pt x="637" y="93"/>
                      <a:pt x="618" y="90"/>
                    </a:cubicBezTo>
                    <a:lnTo>
                      <a:pt x="187" y="14"/>
                    </a:lnTo>
                    <a:cubicBezTo>
                      <a:pt x="107" y="0"/>
                      <a:pt x="29" y="55"/>
                      <a:pt x="14" y="135"/>
                    </a:cubicBezTo>
                    <a:cubicBezTo>
                      <a:pt x="0" y="214"/>
                      <a:pt x="55" y="293"/>
                      <a:pt x="135" y="307"/>
                    </a:cubicBezTo>
                    <a:lnTo>
                      <a:pt x="542" y="378"/>
                    </a:lnTo>
                    <a:lnTo>
                      <a:pt x="1895" y="1210"/>
                    </a:lnTo>
                    <a:cubicBezTo>
                      <a:pt x="1961" y="1250"/>
                      <a:pt x="2051" y="1231"/>
                      <a:pt x="2095" y="1167"/>
                    </a:cubicBezTo>
                    <a:cubicBezTo>
                      <a:pt x="2142" y="1098"/>
                      <a:pt x="2121" y="1000"/>
                      <a:pt x="2050" y="957"/>
                    </a:cubicBezTo>
                    <a:close/>
                    <a:moveTo>
                      <a:pt x="2050" y="957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33">
                <a:extLst>
                  <a:ext uri="{FF2B5EF4-FFF2-40B4-BE49-F238E27FC236}">
                    <a16:creationId xmlns:a16="http://schemas.microsoft.com/office/drawing/2014/main" id="{55EFBFAF-E891-6AE2-B641-35D72B574316}"/>
                  </a:ext>
                </a:extLst>
              </p:cNvPr>
              <p:cNvSpPr/>
              <p:nvPr/>
            </p:nvSpPr>
            <p:spPr>
              <a:xfrm>
                <a:off x="3984625" y="1658938"/>
                <a:ext cx="393700" cy="396886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206" extrusionOk="0">
                    <a:moveTo>
                      <a:pt x="10104" y="5782"/>
                    </a:moveTo>
                    <a:cubicBezTo>
                      <a:pt x="10048" y="5722"/>
                      <a:pt x="9954" y="5719"/>
                      <a:pt x="9894" y="5775"/>
                    </a:cubicBezTo>
                    <a:lnTo>
                      <a:pt x="9292" y="6338"/>
                    </a:lnTo>
                    <a:lnTo>
                      <a:pt x="6532" y="3614"/>
                    </a:lnTo>
                    <a:lnTo>
                      <a:pt x="10097" y="273"/>
                    </a:lnTo>
                    <a:cubicBezTo>
                      <a:pt x="10157" y="217"/>
                      <a:pt x="10160" y="123"/>
                      <a:pt x="10104" y="63"/>
                    </a:cubicBezTo>
                    <a:cubicBezTo>
                      <a:pt x="10048" y="3"/>
                      <a:pt x="9954" y="0"/>
                      <a:pt x="9894" y="56"/>
                    </a:cubicBezTo>
                    <a:lnTo>
                      <a:pt x="6215" y="3503"/>
                    </a:lnTo>
                    <a:cubicBezTo>
                      <a:pt x="6155" y="3560"/>
                      <a:pt x="6154" y="3659"/>
                      <a:pt x="6213" y="3718"/>
                    </a:cubicBezTo>
                    <a:lnTo>
                      <a:pt x="6457" y="3958"/>
                    </a:lnTo>
                    <a:lnTo>
                      <a:pt x="6379" y="4027"/>
                    </a:lnTo>
                    <a:lnTo>
                      <a:pt x="4747" y="3887"/>
                    </a:lnTo>
                    <a:cubicBezTo>
                      <a:pt x="4722" y="3885"/>
                      <a:pt x="4696" y="3889"/>
                      <a:pt x="4673" y="3900"/>
                    </a:cubicBezTo>
                    <a:lnTo>
                      <a:pt x="3380" y="4488"/>
                    </a:lnTo>
                    <a:cubicBezTo>
                      <a:pt x="3376" y="4488"/>
                      <a:pt x="3372" y="4487"/>
                      <a:pt x="3368" y="4486"/>
                    </a:cubicBezTo>
                    <a:lnTo>
                      <a:pt x="2624" y="4355"/>
                    </a:lnTo>
                    <a:lnTo>
                      <a:pt x="2684" y="4201"/>
                    </a:lnTo>
                    <a:cubicBezTo>
                      <a:pt x="2714" y="4125"/>
                      <a:pt x="2677" y="4039"/>
                      <a:pt x="2601" y="4009"/>
                    </a:cubicBezTo>
                    <a:lnTo>
                      <a:pt x="224" y="3058"/>
                    </a:lnTo>
                    <a:cubicBezTo>
                      <a:pt x="147" y="3027"/>
                      <a:pt x="61" y="3064"/>
                      <a:pt x="31" y="3141"/>
                    </a:cubicBezTo>
                    <a:cubicBezTo>
                      <a:pt x="0" y="3217"/>
                      <a:pt x="37" y="3303"/>
                      <a:pt x="113" y="3334"/>
                    </a:cubicBezTo>
                    <a:lnTo>
                      <a:pt x="2354" y="4230"/>
                    </a:lnTo>
                    <a:lnTo>
                      <a:pt x="1034" y="7604"/>
                    </a:lnTo>
                    <a:lnTo>
                      <a:pt x="218" y="7315"/>
                    </a:lnTo>
                    <a:cubicBezTo>
                      <a:pt x="141" y="7288"/>
                      <a:pt x="56" y="7329"/>
                      <a:pt x="28" y="7406"/>
                    </a:cubicBezTo>
                    <a:cubicBezTo>
                      <a:pt x="1" y="7483"/>
                      <a:pt x="42" y="7568"/>
                      <a:pt x="119" y="7596"/>
                    </a:cubicBezTo>
                    <a:lnTo>
                      <a:pt x="1070" y="7932"/>
                    </a:lnTo>
                    <a:cubicBezTo>
                      <a:pt x="1145" y="7959"/>
                      <a:pt x="1229" y="7920"/>
                      <a:pt x="1258" y="7847"/>
                    </a:cubicBezTo>
                    <a:lnTo>
                      <a:pt x="1479" y="7283"/>
                    </a:lnTo>
                    <a:lnTo>
                      <a:pt x="2057" y="7607"/>
                    </a:lnTo>
                    <a:lnTo>
                      <a:pt x="1993" y="7710"/>
                    </a:lnTo>
                    <a:cubicBezTo>
                      <a:pt x="1812" y="8003"/>
                      <a:pt x="1904" y="8388"/>
                      <a:pt x="2196" y="8569"/>
                    </a:cubicBezTo>
                    <a:cubicBezTo>
                      <a:pt x="2351" y="8664"/>
                      <a:pt x="2544" y="8687"/>
                      <a:pt x="2717" y="8631"/>
                    </a:cubicBezTo>
                    <a:cubicBezTo>
                      <a:pt x="2744" y="8811"/>
                      <a:pt x="2850" y="8972"/>
                      <a:pt x="3006" y="9068"/>
                    </a:cubicBezTo>
                    <a:cubicBezTo>
                      <a:pt x="3161" y="9164"/>
                      <a:pt x="3353" y="9186"/>
                      <a:pt x="3526" y="9130"/>
                    </a:cubicBezTo>
                    <a:cubicBezTo>
                      <a:pt x="3554" y="9311"/>
                      <a:pt x="3660" y="9472"/>
                      <a:pt x="3815" y="9568"/>
                    </a:cubicBezTo>
                    <a:cubicBezTo>
                      <a:pt x="3970" y="9663"/>
                      <a:pt x="4162" y="9686"/>
                      <a:pt x="4335" y="9630"/>
                    </a:cubicBezTo>
                    <a:cubicBezTo>
                      <a:pt x="4363" y="9810"/>
                      <a:pt x="4469" y="9971"/>
                      <a:pt x="4624" y="10067"/>
                    </a:cubicBezTo>
                    <a:cubicBezTo>
                      <a:pt x="4850" y="10206"/>
                      <a:pt x="5149" y="10185"/>
                      <a:pt x="5353" y="10015"/>
                    </a:cubicBezTo>
                    <a:cubicBezTo>
                      <a:pt x="5404" y="9972"/>
                      <a:pt x="5448" y="9921"/>
                      <a:pt x="5483" y="9864"/>
                    </a:cubicBezTo>
                    <a:lnTo>
                      <a:pt x="5585" y="9699"/>
                    </a:lnTo>
                    <a:lnTo>
                      <a:pt x="5668" y="9751"/>
                    </a:lnTo>
                    <a:cubicBezTo>
                      <a:pt x="5894" y="9890"/>
                      <a:pt x="6193" y="9868"/>
                      <a:pt x="6396" y="9697"/>
                    </a:cubicBezTo>
                    <a:cubicBezTo>
                      <a:pt x="6448" y="9654"/>
                      <a:pt x="6492" y="9603"/>
                      <a:pt x="6527" y="9546"/>
                    </a:cubicBezTo>
                    <a:cubicBezTo>
                      <a:pt x="6596" y="9432"/>
                      <a:pt x="6625" y="9305"/>
                      <a:pt x="6618" y="9181"/>
                    </a:cubicBezTo>
                    <a:cubicBezTo>
                      <a:pt x="6665" y="9193"/>
                      <a:pt x="6713" y="9199"/>
                      <a:pt x="6762" y="9199"/>
                    </a:cubicBezTo>
                    <a:cubicBezTo>
                      <a:pt x="6978" y="9199"/>
                      <a:pt x="7182" y="9085"/>
                      <a:pt x="7295" y="8901"/>
                    </a:cubicBezTo>
                    <a:cubicBezTo>
                      <a:pt x="7363" y="8791"/>
                      <a:pt x="7394" y="8664"/>
                      <a:pt x="7386" y="8537"/>
                    </a:cubicBezTo>
                    <a:cubicBezTo>
                      <a:pt x="7433" y="8548"/>
                      <a:pt x="7481" y="8554"/>
                      <a:pt x="7530" y="8554"/>
                    </a:cubicBezTo>
                    <a:cubicBezTo>
                      <a:pt x="7746" y="8554"/>
                      <a:pt x="7950" y="8441"/>
                      <a:pt x="8063" y="8257"/>
                    </a:cubicBezTo>
                    <a:cubicBezTo>
                      <a:pt x="8131" y="8146"/>
                      <a:pt x="8162" y="8020"/>
                      <a:pt x="8154" y="7893"/>
                    </a:cubicBezTo>
                    <a:cubicBezTo>
                      <a:pt x="8202" y="7904"/>
                      <a:pt x="8250" y="7910"/>
                      <a:pt x="8298" y="7910"/>
                    </a:cubicBezTo>
                    <a:cubicBezTo>
                      <a:pt x="8508" y="7910"/>
                      <a:pt x="8713" y="7804"/>
                      <a:pt x="8831" y="7613"/>
                    </a:cubicBezTo>
                    <a:cubicBezTo>
                      <a:pt x="9011" y="7319"/>
                      <a:pt x="8919" y="6934"/>
                      <a:pt x="8626" y="6754"/>
                    </a:cubicBezTo>
                    <a:lnTo>
                      <a:pt x="8524" y="6692"/>
                    </a:lnTo>
                    <a:lnTo>
                      <a:pt x="8865" y="6335"/>
                    </a:lnTo>
                    <a:lnTo>
                      <a:pt x="9185" y="6650"/>
                    </a:lnTo>
                    <a:cubicBezTo>
                      <a:pt x="9241" y="6705"/>
                      <a:pt x="9333" y="6706"/>
                      <a:pt x="9391" y="6653"/>
                    </a:cubicBezTo>
                    <a:lnTo>
                      <a:pt x="10097" y="5992"/>
                    </a:lnTo>
                    <a:cubicBezTo>
                      <a:pt x="10157" y="5936"/>
                      <a:pt x="10160" y="5842"/>
                      <a:pt x="10104" y="5782"/>
                    </a:cubicBezTo>
                    <a:close/>
                    <a:moveTo>
                      <a:pt x="2802" y="8209"/>
                    </a:moveTo>
                    <a:cubicBezTo>
                      <a:pt x="2708" y="8363"/>
                      <a:pt x="2506" y="8410"/>
                      <a:pt x="2352" y="8316"/>
                    </a:cubicBezTo>
                    <a:cubicBezTo>
                      <a:pt x="2199" y="8221"/>
                      <a:pt x="2151" y="8019"/>
                      <a:pt x="2246" y="7866"/>
                    </a:cubicBezTo>
                    <a:lnTo>
                      <a:pt x="3078" y="6517"/>
                    </a:lnTo>
                    <a:cubicBezTo>
                      <a:pt x="3171" y="6367"/>
                      <a:pt x="3370" y="6317"/>
                      <a:pt x="3523" y="6407"/>
                    </a:cubicBezTo>
                    <a:cubicBezTo>
                      <a:pt x="3680" y="6500"/>
                      <a:pt x="3724" y="6716"/>
                      <a:pt x="3629" y="6869"/>
                    </a:cubicBezTo>
                    <a:lnTo>
                      <a:pt x="2802" y="8209"/>
                    </a:lnTo>
                    <a:close/>
                    <a:moveTo>
                      <a:pt x="3612" y="8709"/>
                    </a:moveTo>
                    <a:cubicBezTo>
                      <a:pt x="3517" y="8862"/>
                      <a:pt x="3315" y="8910"/>
                      <a:pt x="3162" y="8815"/>
                    </a:cubicBezTo>
                    <a:cubicBezTo>
                      <a:pt x="3010" y="8722"/>
                      <a:pt x="2962" y="8517"/>
                      <a:pt x="3055" y="8365"/>
                    </a:cubicBezTo>
                    <a:lnTo>
                      <a:pt x="3721" y="7286"/>
                    </a:lnTo>
                    <a:cubicBezTo>
                      <a:pt x="3814" y="7136"/>
                      <a:pt x="4013" y="7086"/>
                      <a:pt x="4165" y="7176"/>
                    </a:cubicBezTo>
                    <a:cubicBezTo>
                      <a:pt x="4323" y="7270"/>
                      <a:pt x="4366" y="7485"/>
                      <a:pt x="4272" y="7639"/>
                    </a:cubicBezTo>
                    <a:lnTo>
                      <a:pt x="3612" y="8709"/>
                    </a:lnTo>
                    <a:close/>
                    <a:moveTo>
                      <a:pt x="4421" y="9208"/>
                    </a:moveTo>
                    <a:cubicBezTo>
                      <a:pt x="4375" y="9282"/>
                      <a:pt x="4303" y="9334"/>
                      <a:pt x="4218" y="9355"/>
                    </a:cubicBezTo>
                    <a:cubicBezTo>
                      <a:pt x="4133" y="9375"/>
                      <a:pt x="4045" y="9360"/>
                      <a:pt x="3971" y="9315"/>
                    </a:cubicBezTo>
                    <a:cubicBezTo>
                      <a:pt x="3820" y="9221"/>
                      <a:pt x="3771" y="9017"/>
                      <a:pt x="3865" y="8865"/>
                    </a:cubicBezTo>
                    <a:lnTo>
                      <a:pt x="4364" y="8055"/>
                    </a:lnTo>
                    <a:cubicBezTo>
                      <a:pt x="4457" y="7905"/>
                      <a:pt x="4656" y="7856"/>
                      <a:pt x="4808" y="7946"/>
                    </a:cubicBezTo>
                    <a:cubicBezTo>
                      <a:pt x="4966" y="8039"/>
                      <a:pt x="5009" y="8255"/>
                      <a:pt x="4915" y="8408"/>
                    </a:cubicBezTo>
                    <a:lnTo>
                      <a:pt x="4421" y="9208"/>
                    </a:lnTo>
                    <a:close/>
                    <a:moveTo>
                      <a:pt x="5558" y="9177"/>
                    </a:moveTo>
                    <a:lnTo>
                      <a:pt x="5230" y="9708"/>
                    </a:lnTo>
                    <a:cubicBezTo>
                      <a:pt x="5137" y="9859"/>
                      <a:pt x="4932" y="9908"/>
                      <a:pt x="4780" y="9814"/>
                    </a:cubicBezTo>
                    <a:cubicBezTo>
                      <a:pt x="4629" y="9720"/>
                      <a:pt x="4580" y="9516"/>
                      <a:pt x="4674" y="9364"/>
                    </a:cubicBezTo>
                    <a:lnTo>
                      <a:pt x="5007" y="8825"/>
                    </a:lnTo>
                    <a:cubicBezTo>
                      <a:pt x="5100" y="8674"/>
                      <a:pt x="5299" y="8625"/>
                      <a:pt x="5451" y="8715"/>
                    </a:cubicBezTo>
                    <a:cubicBezTo>
                      <a:pt x="5609" y="8808"/>
                      <a:pt x="5652" y="9024"/>
                      <a:pt x="5558" y="9177"/>
                    </a:cubicBezTo>
                    <a:close/>
                    <a:moveTo>
                      <a:pt x="8265" y="6532"/>
                    </a:moveTo>
                    <a:lnTo>
                      <a:pt x="7528" y="6080"/>
                    </a:lnTo>
                    <a:cubicBezTo>
                      <a:pt x="7460" y="6038"/>
                      <a:pt x="7366" y="6060"/>
                      <a:pt x="7324" y="6129"/>
                    </a:cubicBezTo>
                    <a:cubicBezTo>
                      <a:pt x="7282" y="6197"/>
                      <a:pt x="7304" y="6291"/>
                      <a:pt x="7373" y="6333"/>
                    </a:cubicBezTo>
                    <a:lnTo>
                      <a:pt x="8470" y="7007"/>
                    </a:lnTo>
                    <a:cubicBezTo>
                      <a:pt x="8623" y="7102"/>
                      <a:pt x="8672" y="7303"/>
                      <a:pt x="8577" y="7457"/>
                    </a:cubicBezTo>
                    <a:cubicBezTo>
                      <a:pt x="8483" y="7611"/>
                      <a:pt x="8281" y="7659"/>
                      <a:pt x="8128" y="7564"/>
                    </a:cubicBezTo>
                    <a:lnTo>
                      <a:pt x="6951" y="6841"/>
                    </a:lnTo>
                    <a:cubicBezTo>
                      <a:pt x="6881" y="6798"/>
                      <a:pt x="6789" y="6820"/>
                      <a:pt x="6746" y="6890"/>
                    </a:cubicBezTo>
                    <a:cubicBezTo>
                      <a:pt x="6703" y="6960"/>
                      <a:pt x="6725" y="7051"/>
                      <a:pt x="6795" y="7094"/>
                    </a:cubicBezTo>
                    <a:lnTo>
                      <a:pt x="7702" y="7652"/>
                    </a:lnTo>
                    <a:cubicBezTo>
                      <a:pt x="7854" y="7745"/>
                      <a:pt x="7903" y="7949"/>
                      <a:pt x="7809" y="8101"/>
                    </a:cubicBezTo>
                    <a:cubicBezTo>
                      <a:pt x="7716" y="8253"/>
                      <a:pt x="7512" y="8302"/>
                      <a:pt x="7360" y="8209"/>
                    </a:cubicBezTo>
                    <a:lnTo>
                      <a:pt x="6538" y="7704"/>
                    </a:lnTo>
                    <a:cubicBezTo>
                      <a:pt x="6468" y="7661"/>
                      <a:pt x="6376" y="7683"/>
                      <a:pt x="6333" y="7752"/>
                    </a:cubicBezTo>
                    <a:cubicBezTo>
                      <a:pt x="6291" y="7822"/>
                      <a:pt x="6312" y="7914"/>
                      <a:pt x="6382" y="7957"/>
                    </a:cubicBezTo>
                    <a:lnTo>
                      <a:pt x="6934" y="8296"/>
                    </a:lnTo>
                    <a:cubicBezTo>
                      <a:pt x="7086" y="8389"/>
                      <a:pt x="7135" y="8594"/>
                      <a:pt x="7041" y="8746"/>
                    </a:cubicBezTo>
                    <a:cubicBezTo>
                      <a:pt x="6948" y="8897"/>
                      <a:pt x="6744" y="8946"/>
                      <a:pt x="6592" y="8853"/>
                    </a:cubicBezTo>
                    <a:cubicBezTo>
                      <a:pt x="6592" y="8853"/>
                      <a:pt x="6106" y="8555"/>
                      <a:pt x="6102" y="8553"/>
                    </a:cubicBezTo>
                    <a:cubicBezTo>
                      <a:pt x="6034" y="8520"/>
                      <a:pt x="5951" y="8543"/>
                      <a:pt x="5911" y="8609"/>
                    </a:cubicBezTo>
                    <a:cubicBezTo>
                      <a:pt x="5868" y="8679"/>
                      <a:pt x="5890" y="8770"/>
                      <a:pt x="5960" y="8813"/>
                    </a:cubicBezTo>
                    <a:lnTo>
                      <a:pt x="6166" y="8940"/>
                    </a:lnTo>
                    <a:cubicBezTo>
                      <a:pt x="6320" y="9035"/>
                      <a:pt x="6368" y="9236"/>
                      <a:pt x="6274" y="9390"/>
                    </a:cubicBezTo>
                    <a:cubicBezTo>
                      <a:pt x="6180" y="9542"/>
                      <a:pt x="5976" y="9591"/>
                      <a:pt x="5824" y="9497"/>
                    </a:cubicBezTo>
                    <a:lnTo>
                      <a:pt x="5741" y="9446"/>
                    </a:lnTo>
                    <a:lnTo>
                      <a:pt x="5811" y="9333"/>
                    </a:lnTo>
                    <a:cubicBezTo>
                      <a:pt x="5900" y="9188"/>
                      <a:pt x="5928" y="9010"/>
                      <a:pt x="5887" y="8844"/>
                    </a:cubicBezTo>
                    <a:cubicBezTo>
                      <a:pt x="5846" y="8680"/>
                      <a:pt x="5745" y="8543"/>
                      <a:pt x="5603" y="8459"/>
                    </a:cubicBezTo>
                    <a:cubicBezTo>
                      <a:pt x="5491" y="8393"/>
                      <a:pt x="5367" y="8366"/>
                      <a:pt x="5245" y="8375"/>
                    </a:cubicBezTo>
                    <a:cubicBezTo>
                      <a:pt x="5268" y="8277"/>
                      <a:pt x="5268" y="8174"/>
                      <a:pt x="5244" y="8075"/>
                    </a:cubicBezTo>
                    <a:cubicBezTo>
                      <a:pt x="5203" y="7911"/>
                      <a:pt x="5102" y="7774"/>
                      <a:pt x="4960" y="7690"/>
                    </a:cubicBezTo>
                    <a:cubicBezTo>
                      <a:pt x="4848" y="7624"/>
                      <a:pt x="4724" y="7597"/>
                      <a:pt x="4602" y="7605"/>
                    </a:cubicBezTo>
                    <a:cubicBezTo>
                      <a:pt x="4664" y="7342"/>
                      <a:pt x="4551" y="7059"/>
                      <a:pt x="4317" y="6920"/>
                    </a:cubicBezTo>
                    <a:cubicBezTo>
                      <a:pt x="4205" y="6855"/>
                      <a:pt x="4081" y="6828"/>
                      <a:pt x="3960" y="6836"/>
                    </a:cubicBezTo>
                    <a:cubicBezTo>
                      <a:pt x="4021" y="6573"/>
                      <a:pt x="3908" y="6290"/>
                      <a:pt x="3674" y="6151"/>
                    </a:cubicBezTo>
                    <a:cubicBezTo>
                      <a:pt x="3383" y="5979"/>
                      <a:pt x="3003" y="6074"/>
                      <a:pt x="2825" y="6361"/>
                    </a:cubicBezTo>
                    <a:lnTo>
                      <a:pt x="2213" y="7353"/>
                    </a:lnTo>
                    <a:lnTo>
                      <a:pt x="1588" y="7003"/>
                    </a:lnTo>
                    <a:lnTo>
                      <a:pt x="2514" y="4637"/>
                    </a:lnTo>
                    <a:lnTo>
                      <a:pt x="3018" y="4726"/>
                    </a:lnTo>
                    <a:cubicBezTo>
                      <a:pt x="2875" y="4904"/>
                      <a:pt x="2834" y="5155"/>
                      <a:pt x="2935" y="5377"/>
                    </a:cubicBezTo>
                    <a:cubicBezTo>
                      <a:pt x="3040" y="5606"/>
                      <a:pt x="3267" y="5742"/>
                      <a:pt x="3504" y="5742"/>
                    </a:cubicBezTo>
                    <a:cubicBezTo>
                      <a:pt x="3591" y="5742"/>
                      <a:pt x="3678" y="5724"/>
                      <a:pt x="3762" y="5686"/>
                    </a:cubicBezTo>
                    <a:lnTo>
                      <a:pt x="4632" y="5289"/>
                    </a:lnTo>
                    <a:cubicBezTo>
                      <a:pt x="4706" y="5256"/>
                      <a:pt x="4739" y="5166"/>
                      <a:pt x="4706" y="5093"/>
                    </a:cubicBezTo>
                    <a:cubicBezTo>
                      <a:pt x="4672" y="5019"/>
                      <a:pt x="4583" y="4985"/>
                      <a:pt x="4509" y="5019"/>
                    </a:cubicBezTo>
                    <a:lnTo>
                      <a:pt x="3639" y="5415"/>
                    </a:lnTo>
                    <a:cubicBezTo>
                      <a:pt x="3475" y="5490"/>
                      <a:pt x="3280" y="5417"/>
                      <a:pt x="3206" y="5253"/>
                    </a:cubicBezTo>
                    <a:cubicBezTo>
                      <a:pt x="3131" y="5089"/>
                      <a:pt x="3204" y="4895"/>
                      <a:pt x="3368" y="4820"/>
                    </a:cubicBezTo>
                    <a:lnTo>
                      <a:pt x="4760" y="4186"/>
                    </a:lnTo>
                    <a:lnTo>
                      <a:pt x="6417" y="4329"/>
                    </a:lnTo>
                    <a:cubicBezTo>
                      <a:pt x="6421" y="4329"/>
                      <a:pt x="6425" y="4329"/>
                      <a:pt x="6430" y="4329"/>
                    </a:cubicBezTo>
                    <a:cubicBezTo>
                      <a:pt x="6466" y="4329"/>
                      <a:pt x="6501" y="4316"/>
                      <a:pt x="6528" y="4292"/>
                    </a:cubicBezTo>
                    <a:lnTo>
                      <a:pt x="6669" y="4168"/>
                    </a:lnTo>
                    <a:lnTo>
                      <a:pt x="8654" y="6126"/>
                    </a:lnTo>
                    <a:lnTo>
                      <a:pt x="8265" y="6532"/>
                    </a:lnTo>
                    <a:close/>
                    <a:moveTo>
                      <a:pt x="8265" y="6532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Google Shape;2260;p33">
            <a:extLst>
              <a:ext uri="{FF2B5EF4-FFF2-40B4-BE49-F238E27FC236}">
                <a16:creationId xmlns:a16="http://schemas.microsoft.com/office/drawing/2014/main" id="{41C9856F-EB9D-A825-8865-9ACA162156DC}"/>
              </a:ext>
            </a:extLst>
          </p:cNvPr>
          <p:cNvSpPr txBox="1">
            <a:spLocks/>
          </p:cNvSpPr>
          <p:nvPr/>
        </p:nvSpPr>
        <p:spPr>
          <a:xfrm>
            <a:off x="3287093" y="699242"/>
            <a:ext cx="3114589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- Provide recommendations on the approach for each customer segment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buSzPts val="1600"/>
            </a:pPr>
            <a:r>
              <a:rPr lang="en-US" sz="1200" b="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7D8F2-1363-C611-1C66-13555BA37A4F}"/>
              </a:ext>
            </a:extLst>
          </p:cNvPr>
          <p:cNvSpPr txBox="1"/>
          <p:nvPr/>
        </p:nvSpPr>
        <p:spPr>
          <a:xfrm>
            <a:off x="755971" y="1542969"/>
            <a:ext cx="76320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1. Segmentation: </a:t>
            </a:r>
            <a:r>
              <a:rPr lang="en-US" sz="18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Retain Champions with VIP perks, upsell Potential Loyalists, win back At Risk, deprioritize Lost.</a:t>
            </a:r>
          </a:p>
          <a:p>
            <a:pPr rtl="0"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2. Transactions: </a:t>
            </a:r>
            <a:r>
              <a:rPr lang="en-US" sz="18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Partner cashback on top MCCs, tighten fraud checks on Online (highest outliers), optimize pricing for small transactions with separate monitoring for &gt;$2000 ones.</a:t>
            </a:r>
          </a:p>
          <a:p>
            <a:pPr rtl="0"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3. Growth: </a:t>
            </a:r>
            <a:r>
              <a:rPr lang="en-US" sz="18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Volume plateaued 2015–2018, signaling saturation — invest in new customer acquisition or product expansion.</a:t>
            </a:r>
          </a:p>
          <a:p>
            <a:pPr rtl="0"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4. Data quality: </a:t>
            </a:r>
            <a:r>
              <a:rPr lang="en-US" sz="18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High missing rates (errors, zip/state) require better data collection at source for reliable risk/fraud analysis.</a:t>
            </a:r>
          </a:p>
        </p:txBody>
      </p:sp>
    </p:spTree>
    <p:extLst>
      <p:ext uri="{BB962C8B-B14F-4D97-AF65-F5344CB8AC3E}">
        <p14:creationId xmlns:p14="http://schemas.microsoft.com/office/powerpoint/2010/main" val="2006976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39"/>
          <p:cNvSpPr txBox="1">
            <a:spLocks noGrp="1"/>
          </p:cNvSpPr>
          <p:nvPr>
            <p:ph type="title"/>
          </p:nvPr>
        </p:nvSpPr>
        <p:spPr>
          <a:xfrm>
            <a:off x="1977920" y="552450"/>
            <a:ext cx="5188200" cy="10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461" name="Google Shape;2461;p39"/>
          <p:cNvSpPr txBox="1"/>
          <p:nvPr/>
        </p:nvSpPr>
        <p:spPr>
          <a:xfrm>
            <a:off x="3072000" y="4340855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Please keep this slide for attribution</a:t>
            </a:r>
            <a:endParaRPr sz="10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462" name="Google Shape;2462;p39"/>
          <p:cNvGrpSpPr/>
          <p:nvPr/>
        </p:nvGrpSpPr>
        <p:grpSpPr>
          <a:xfrm>
            <a:off x="3454101" y="2992644"/>
            <a:ext cx="569100" cy="569100"/>
            <a:chOff x="3454101" y="2992644"/>
            <a:chExt cx="569100" cy="569100"/>
          </a:xfrm>
        </p:grpSpPr>
        <p:sp>
          <p:nvSpPr>
            <p:cNvPr id="2463" name="Google Shape;2463;p39"/>
            <p:cNvSpPr/>
            <p:nvPr/>
          </p:nvSpPr>
          <p:spPr>
            <a:xfrm>
              <a:off x="3454101" y="2992644"/>
              <a:ext cx="569100" cy="5691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39"/>
            <p:cNvSpPr/>
            <p:nvPr/>
          </p:nvSpPr>
          <p:spPr>
            <a:xfrm>
              <a:off x="3565789" y="3112482"/>
              <a:ext cx="345674" cy="346056"/>
            </a:xfrm>
            <a:custGeom>
              <a:avLst/>
              <a:gdLst/>
              <a:ahLst/>
              <a:cxnLst/>
              <a:rect l="l" t="t" r="r" b="b"/>
              <a:pathLst>
                <a:path w="10860" h="10872" extrusionOk="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5" name="Google Shape;2465;p39"/>
          <p:cNvGrpSpPr/>
          <p:nvPr/>
        </p:nvGrpSpPr>
        <p:grpSpPr>
          <a:xfrm>
            <a:off x="5120847" y="2992644"/>
            <a:ext cx="569100" cy="569100"/>
            <a:chOff x="5120847" y="2992644"/>
            <a:chExt cx="569100" cy="569100"/>
          </a:xfrm>
        </p:grpSpPr>
        <p:sp>
          <p:nvSpPr>
            <p:cNvPr id="2466" name="Google Shape;2466;p39"/>
            <p:cNvSpPr/>
            <p:nvPr/>
          </p:nvSpPr>
          <p:spPr>
            <a:xfrm>
              <a:off x="5120847" y="2992644"/>
              <a:ext cx="569100" cy="5691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67" name="Google Shape;2467;p39"/>
            <p:cNvGrpSpPr/>
            <p:nvPr/>
          </p:nvGrpSpPr>
          <p:grpSpPr>
            <a:xfrm>
              <a:off x="5232344" y="3109142"/>
              <a:ext cx="346056" cy="345674"/>
              <a:chOff x="3303268" y="3817349"/>
              <a:chExt cx="346056" cy="345674"/>
            </a:xfrm>
          </p:grpSpPr>
          <p:sp>
            <p:nvSpPr>
              <p:cNvPr id="2468" name="Google Shape;2468;p39"/>
              <p:cNvSpPr/>
              <p:nvPr/>
            </p:nvSpPr>
            <p:spPr>
              <a:xfrm>
                <a:off x="3303268" y="3817349"/>
                <a:ext cx="346056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0872" h="10860" extrusionOk="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p39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6764" extrusionOk="0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p39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3542" extrusionOk="0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p39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avLst/>
                <a:gdLst/>
                <a:ahLst/>
                <a:cxnLst/>
                <a:rect l="l" t="t" r="r" b="b"/>
                <a:pathLst>
                  <a:path w="929" h="918" extrusionOk="0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72" name="Google Shape;2472;p39"/>
          <p:cNvGrpSpPr/>
          <p:nvPr/>
        </p:nvGrpSpPr>
        <p:grpSpPr>
          <a:xfrm>
            <a:off x="4287474" y="2992644"/>
            <a:ext cx="569100" cy="569100"/>
            <a:chOff x="4287474" y="2992644"/>
            <a:chExt cx="569100" cy="569100"/>
          </a:xfrm>
        </p:grpSpPr>
        <p:sp>
          <p:nvSpPr>
            <p:cNvPr id="2473" name="Google Shape;2473;p39"/>
            <p:cNvSpPr/>
            <p:nvPr/>
          </p:nvSpPr>
          <p:spPr>
            <a:xfrm>
              <a:off x="4287474" y="2992644"/>
              <a:ext cx="569100" cy="569100"/>
            </a:xfrm>
            <a:prstGeom prst="round1Rect">
              <a:avLst>
                <a:gd name="adj" fmla="val 3172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4" name="Google Shape;2474;p39"/>
            <p:cNvGrpSpPr/>
            <p:nvPr/>
          </p:nvGrpSpPr>
          <p:grpSpPr>
            <a:xfrm>
              <a:off x="4398972" y="3109142"/>
              <a:ext cx="346056" cy="345674"/>
              <a:chOff x="3752358" y="3817349"/>
              <a:chExt cx="346056" cy="345674"/>
            </a:xfrm>
          </p:grpSpPr>
          <p:sp>
            <p:nvSpPr>
              <p:cNvPr id="2475" name="Google Shape;2475;p39"/>
              <p:cNvSpPr/>
              <p:nvPr/>
            </p:nvSpPr>
            <p:spPr>
              <a:xfrm>
                <a:off x="3752358" y="3817349"/>
                <a:ext cx="346056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0872" h="10860" extrusionOk="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39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787" extrusionOk="0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7" name="Google Shape;2477;p39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8" extrusionOk="0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p39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3787" extrusionOk="0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79" name="Google Shape;2479;p39"/>
          <p:cNvSpPr txBox="1">
            <a:spLocks noGrp="1"/>
          </p:cNvSpPr>
          <p:nvPr>
            <p:ph type="subTitle" idx="1"/>
          </p:nvPr>
        </p:nvSpPr>
        <p:spPr>
          <a:xfrm>
            <a:off x="1977876" y="1479800"/>
            <a:ext cx="51882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000000"/>
                </a:solidFill>
              </a:rPr>
              <a:t>Does anyone have any questions?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phamminhman0303@gmail.com 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+00 000 000 000</a:t>
            </a:r>
            <a:endParaRPr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407</Words>
  <Application>Microsoft Office PowerPoint</Application>
  <PresentationFormat>On-screen Show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Anaheim</vt:lpstr>
      <vt:lpstr>Arial</vt:lpstr>
      <vt:lpstr>Arimo</vt:lpstr>
      <vt:lpstr>Courier New</vt:lpstr>
      <vt:lpstr>Inter</vt:lpstr>
      <vt:lpstr>Open Sans</vt:lpstr>
      <vt:lpstr>Poppins</vt:lpstr>
      <vt:lpstr>Poppins ExtraBold</vt:lpstr>
      <vt:lpstr>Raleway</vt:lpstr>
      <vt:lpstr>Elegant Workplan by Slidesgo</vt:lpstr>
      <vt:lpstr>Project 1:  Customer segment analysis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Man Pham</cp:lastModifiedBy>
  <cp:revision>6</cp:revision>
  <dcterms:modified xsi:type="dcterms:W3CDTF">2026-08-07T05:26:34Z</dcterms:modified>
</cp:coreProperties>
</file>